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notesMasterIdLst>
    <p:notesMasterId r:id="rId34"/>
  </p:notesMasterIdLst>
  <p:handoutMasterIdLst>
    <p:handoutMasterId r:id="rId35"/>
  </p:handoutMasterIdLst>
  <p:sldIdLst>
    <p:sldId id="304" r:id="rId3"/>
    <p:sldId id="258" r:id="rId4"/>
    <p:sldId id="305" r:id="rId5"/>
    <p:sldId id="300" r:id="rId6"/>
    <p:sldId id="299" r:id="rId7"/>
    <p:sldId id="297" r:id="rId8"/>
    <p:sldId id="562" r:id="rId9"/>
    <p:sldId id="310" r:id="rId10"/>
    <p:sldId id="312" r:id="rId11"/>
    <p:sldId id="307" r:id="rId12"/>
    <p:sldId id="287" r:id="rId13"/>
    <p:sldId id="313" r:id="rId14"/>
    <p:sldId id="289" r:id="rId15"/>
    <p:sldId id="560" r:id="rId16"/>
    <p:sldId id="292" r:id="rId17"/>
    <p:sldId id="290" r:id="rId18"/>
    <p:sldId id="291" r:id="rId19"/>
    <p:sldId id="314" r:id="rId20"/>
    <p:sldId id="295" r:id="rId21"/>
    <p:sldId id="308" r:id="rId22"/>
    <p:sldId id="286" r:id="rId23"/>
    <p:sldId id="315" r:id="rId24"/>
    <p:sldId id="316" r:id="rId25"/>
    <p:sldId id="293" r:id="rId26"/>
    <p:sldId id="294" r:id="rId27"/>
    <p:sldId id="317" r:id="rId28"/>
    <p:sldId id="318" r:id="rId29"/>
    <p:sldId id="553" r:id="rId30"/>
    <p:sldId id="554" r:id="rId31"/>
    <p:sldId id="558" r:id="rId32"/>
    <p:sldId id="301" r:id="rId33"/>
  </p:sldIdLst>
  <p:sldSz cx="9144000" cy="6858000" type="screen4x3"/>
  <p:notesSz cx="6858000" cy="9144000"/>
  <p:embeddedFontLst>
    <p:embeddedFont>
      <p:font typeface="Consolas" panose="020B0609020204030204" pitchFamily="49" charset="0"/>
      <p:regular r:id="rId36"/>
      <p:bold r:id="rId37"/>
      <p:italic r:id="rId38"/>
      <p:boldItalic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F417410-B733-BD4C-B144-AC9BE8651232}">
          <p14:sldIdLst>
            <p14:sldId id="304"/>
            <p14:sldId id="258"/>
            <p14:sldId id="305"/>
            <p14:sldId id="300"/>
            <p14:sldId id="299"/>
            <p14:sldId id="297"/>
            <p14:sldId id="562"/>
            <p14:sldId id="310"/>
            <p14:sldId id="312"/>
          </p14:sldIdLst>
        </p14:section>
        <p14:section name="Key-Value Stores" id="{4C88C7A0-1BBA-C740-B909-554157D95B0E}">
          <p14:sldIdLst>
            <p14:sldId id="307"/>
            <p14:sldId id="287"/>
            <p14:sldId id="313"/>
            <p14:sldId id="289"/>
            <p14:sldId id="560"/>
            <p14:sldId id="292"/>
            <p14:sldId id="290"/>
            <p14:sldId id="291"/>
            <p14:sldId id="314"/>
            <p14:sldId id="295"/>
          </p14:sldIdLst>
        </p14:section>
        <p14:section name="Wide Column Stores" id="{8422192E-24F9-6C41-956A-53DC95198F54}">
          <p14:sldIdLst>
            <p14:sldId id="308"/>
            <p14:sldId id="286"/>
            <p14:sldId id="315"/>
            <p14:sldId id="316"/>
            <p14:sldId id="293"/>
            <p14:sldId id="294"/>
            <p14:sldId id="317"/>
            <p14:sldId id="318"/>
            <p14:sldId id="553"/>
            <p14:sldId id="554"/>
          </p14:sldIdLst>
        </p14:section>
        <p14:section name="Wrap Up" id="{667FE531-31BF-B944-9794-D16CEBB24944}">
          <p14:sldIdLst>
            <p14:sldId id="558"/>
            <p14:sldId id="3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76" autoAdjust="0"/>
    <p:restoredTop sz="86359" autoAdjust="0"/>
  </p:normalViewPr>
  <p:slideViewPr>
    <p:cSldViewPr>
      <p:cViewPr varScale="1">
        <p:scale>
          <a:sx n="81" d="100"/>
          <a:sy n="81" d="100"/>
        </p:scale>
        <p:origin x="16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5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2.fntdata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1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handoutMaster" Target="handoutMasters/handoutMaster1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4" y="1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76F03C-7DE8-45F6-B45F-D2916B0D0244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4" y="868521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80F636-EEE7-47CB-9B11-50943D0B6B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76211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4" y="1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1114D6-3792-42D8-B79F-3DF2A50C676B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1" y="4343401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4" y="868521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3182D9-A727-4393-A23B-98F38C3DA9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4692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182D9-A727-4393-A23B-98F38C3DA919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7827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3182D9-A727-4393-A23B-98F38C3DA919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0059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3182D9-A727-4393-A23B-98F38C3DA919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1885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1624D-1D8C-4CEF-8C05-88F974502DCE}" type="datetime1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5417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DFB79-5821-46F0-90A5-8C1573F83992}" type="datetime1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094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ABD7C-E7DF-4DFE-9068-35B06E0B8B90}" type="datetime1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8441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B6328-747E-4772-AE10-85C1DDF71372}" type="datetime1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3898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B8159-ED7E-4681-B9F6-B459E6E2E86D}" type="datetime1">
              <a:rPr lang="en-GB" smtClean="0"/>
              <a:t>24/11/2025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1400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3D0A-50B7-4071-9E34-1D4F9AD3D0C2}" type="datetime1">
              <a:rPr lang="en-GB" smtClean="0"/>
              <a:t>24/11/2025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8233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7D0AF-5935-4D41-82D4-01BDAF134C5A}" type="datetime1">
              <a:rPr lang="en-GB" smtClean="0"/>
              <a:t>24/11/2025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1570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8145-E357-4783-A728-CD718A5C8E9C}" type="datetime1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4815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6160C-7FE2-433C-B921-42D8DEBC83BA}" type="datetime1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7420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D66F3-811F-44B2-AE95-6D56F6E150E7}" type="datetime1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865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26B74-A33B-46D8-A9CB-400865C4157A}" type="datetime1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372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374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0006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6240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0704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9365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1207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7523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5125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0645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2424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48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282C7-24A7-4B6D-93C7-A80892BA0A43}" type="datetime1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87C01A-3D8D-4949-8142-6DB3609FD2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2354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726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bdb.io/" TargetMode="External"/><Relationship Id="rId2" Type="http://schemas.openxmlformats.org/officeDocument/2006/relationships/hyperlink" Target="http://db-engines.com/en/ranking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dis.io/docs/manual/scaling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noSQL</a:t>
            </a:r>
            <a:r>
              <a:rPr lang="en-GB" dirty="0"/>
              <a:t>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2800" dirty="0">
                <a:solidFill>
                  <a:schemeClr val="tx1"/>
                </a:solidFill>
              </a:rPr>
              <a:t>Peter Rodgers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35FA9-C548-4281-85DD-169A40E66F3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0262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Lecture Outline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76DAB6-C580-4C3F-B081-73DB154F039F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What is noSQL?</a:t>
            </a:r>
          </a:p>
          <a:p>
            <a:r>
              <a:rPr lang="en-GB" dirty="0"/>
              <a:t>Two </a:t>
            </a:r>
            <a:r>
              <a:rPr lang="en-GB" dirty="0" err="1"/>
              <a:t>noSQL</a:t>
            </a:r>
            <a:r>
              <a:rPr lang="en-GB" dirty="0"/>
              <a:t> DBMS</a:t>
            </a:r>
          </a:p>
          <a:p>
            <a:pPr lvl="1"/>
            <a:r>
              <a:rPr lang="en-GB" dirty="0"/>
              <a:t>Key-Value Stores</a:t>
            </a:r>
          </a:p>
          <a:p>
            <a:pPr lvl="1"/>
            <a:r>
              <a:rPr lang="en-GB" dirty="0"/>
              <a:t>Wide Column Store</a:t>
            </a:r>
          </a:p>
        </p:txBody>
      </p:sp>
    </p:spTree>
    <p:extLst>
      <p:ext uri="{BB962C8B-B14F-4D97-AF65-F5344CB8AC3E}">
        <p14:creationId xmlns:p14="http://schemas.microsoft.com/office/powerpoint/2010/main" val="101977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83417-2585-494E-92E4-B0824ED9F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Relational 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30A69-7F03-2544-9B28-2B015DD2F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be too rigid</a:t>
            </a:r>
          </a:p>
          <a:p>
            <a:pPr lvl="1"/>
            <a:r>
              <a:rPr lang="en-US" dirty="0"/>
              <a:t>Relational databases have a fixed schema, many DB applications do not</a:t>
            </a:r>
          </a:p>
          <a:p>
            <a:pPr lvl="1"/>
            <a:r>
              <a:rPr lang="en-US" dirty="0"/>
              <a:t>Not all applications are a good fit for the relational structure of tables and base data types</a:t>
            </a:r>
          </a:p>
          <a:p>
            <a:r>
              <a:rPr lang="en-US" dirty="0"/>
              <a:t>Relational DBs provide a lot of correctness guarantees</a:t>
            </a:r>
          </a:p>
          <a:p>
            <a:pPr lvl="1"/>
            <a:r>
              <a:rPr lang="en-US" dirty="0"/>
              <a:t>These come at a performance cost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941A4-6ACB-464F-9370-4EF1934DB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8599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GB" dirty="0"/>
              <a:t>What is noSQL?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u="sng" dirty="0"/>
              <a:t>n</a:t>
            </a:r>
            <a:r>
              <a:rPr lang="en-GB" dirty="0"/>
              <a:t>ot </a:t>
            </a:r>
            <a:r>
              <a:rPr lang="en-GB" u="sng" dirty="0"/>
              <a:t>o</a:t>
            </a:r>
            <a:r>
              <a:rPr lang="en-GB" dirty="0"/>
              <a:t>nly </a:t>
            </a:r>
            <a:r>
              <a:rPr lang="en-GB" u="sng" dirty="0"/>
              <a:t>SQL</a:t>
            </a:r>
          </a:p>
          <a:p>
            <a:r>
              <a:rPr lang="en-GB" dirty="0"/>
              <a:t>Any non-relational persistent storage system</a:t>
            </a:r>
          </a:p>
          <a:p>
            <a:r>
              <a:rPr lang="en-GB" dirty="0"/>
              <a:t>Common traits of </a:t>
            </a:r>
            <a:r>
              <a:rPr lang="en-GB" dirty="0" err="1"/>
              <a:t>noSQL</a:t>
            </a:r>
            <a:r>
              <a:rPr lang="en-GB" dirty="0"/>
              <a:t> systems:</a:t>
            </a:r>
          </a:p>
          <a:p>
            <a:pPr lvl="1"/>
            <a:r>
              <a:rPr lang="en-GB" dirty="0"/>
              <a:t>Often lack ACID transactions, or have limited form</a:t>
            </a:r>
          </a:p>
          <a:p>
            <a:pPr lvl="1"/>
            <a:r>
              <a:rPr lang="en-GB" dirty="0"/>
              <a:t>Uses different or more specialized underlying data structures</a:t>
            </a:r>
          </a:p>
          <a:p>
            <a:pPr lvl="1"/>
            <a:r>
              <a:rPr lang="en-GB" dirty="0"/>
              <a:t>Often designed for the demands of distributed big data</a:t>
            </a:r>
          </a:p>
          <a:p>
            <a:pPr lvl="1"/>
            <a:r>
              <a:rPr lang="en-GB" dirty="0"/>
              <a:t>R</a:t>
            </a:r>
            <a:r>
              <a:rPr lang="en-GB" baseline="0" dirty="0"/>
              <a:t>eplication and redundancy possibly at both a distributed level and between records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3358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Types of noSQL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Today, we look at:</a:t>
            </a:r>
          </a:p>
          <a:p>
            <a:pPr lvl="1"/>
            <a:r>
              <a:rPr lang="en-GB" dirty="0"/>
              <a:t>Key-Value Stores</a:t>
            </a:r>
          </a:p>
          <a:p>
            <a:pPr lvl="1"/>
            <a:r>
              <a:rPr lang="en-GB" dirty="0"/>
              <a:t>Wide Column (Row) Stores</a:t>
            </a:r>
          </a:p>
          <a:p>
            <a:r>
              <a:rPr lang="en-GB" dirty="0"/>
              <a:t>But there are many more types of noSQL, for example:</a:t>
            </a:r>
          </a:p>
          <a:p>
            <a:pPr lvl="1"/>
            <a:r>
              <a:rPr lang="en-GB" dirty="0"/>
              <a:t>Document Stores</a:t>
            </a:r>
          </a:p>
          <a:p>
            <a:pPr lvl="1"/>
            <a:r>
              <a:rPr lang="en-GB" dirty="0"/>
              <a:t>Object-Oriented Databases</a:t>
            </a:r>
          </a:p>
          <a:p>
            <a:pPr lvl="1"/>
            <a:r>
              <a:rPr lang="en-GB" dirty="0"/>
              <a:t>Graph Databases</a:t>
            </a:r>
          </a:p>
          <a:p>
            <a:pPr lvl="1"/>
            <a:r>
              <a:rPr lang="en-GB" dirty="0"/>
              <a:t>Search Based</a:t>
            </a:r>
          </a:p>
          <a:p>
            <a:pPr lvl="1"/>
            <a:r>
              <a:rPr lang="en-GB" dirty="0"/>
              <a:t>Triple (and Quad) Stores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7726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Why noSQL?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 majority of databases in use at present are relational, using SQL:</a:t>
            </a:r>
          </a:p>
          <a:p>
            <a:pPr marL="0" indent="0" algn="ctr">
              <a:buNone/>
            </a:pPr>
            <a:r>
              <a:rPr lang="en-GB" dirty="0">
                <a:hlinkClick r:id="rId2"/>
              </a:rPr>
              <a:t>http://db-engines.com/en/ranking</a:t>
            </a:r>
            <a:endParaRPr lang="en-GB" dirty="0"/>
          </a:p>
          <a:p>
            <a:endParaRPr lang="en-GB" dirty="0"/>
          </a:p>
          <a:p>
            <a:r>
              <a:rPr lang="en-GB" dirty="0"/>
              <a:t>Similar project </a:t>
            </a:r>
            <a:r>
              <a:rPr lang="en-GB" dirty="0">
                <a:hlinkClick r:id="rId3"/>
              </a:rPr>
              <a:t>https://dbdb.io/</a:t>
            </a:r>
            <a:endParaRPr lang="en-GB" dirty="0"/>
          </a:p>
          <a:p>
            <a:pPr lvl="1"/>
            <a:r>
              <a:rPr lang="en-GB" dirty="0"/>
              <a:t>The database of databases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5694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C9CE5A-4969-5A51-635E-FF82170BD9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8" r="1795"/>
          <a:stretch/>
        </p:blipFill>
        <p:spPr>
          <a:xfrm>
            <a:off x="344541" y="682520"/>
            <a:ext cx="8342259" cy="51947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823CD3-D9F3-6C4F-9862-C9F3AB522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34280"/>
            <a:ext cx="8229600" cy="1143000"/>
          </a:xfrm>
        </p:spPr>
        <p:txBody>
          <a:bodyPr/>
          <a:lstStyle/>
          <a:p>
            <a:r>
              <a:rPr lang="en-US" dirty="0"/>
              <a:t>DB Engines March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92233-4FC7-1F47-A038-B4FA62B3F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0374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GB" dirty="0"/>
              <a:t>Relational Databases and SQL are not always the best choice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Data is not always regular and structured</a:t>
            </a:r>
          </a:p>
          <a:p>
            <a:r>
              <a:rPr lang="en-GB" dirty="0"/>
              <a:t>Up-front design may not match incremental software development approach</a:t>
            </a:r>
          </a:p>
          <a:p>
            <a:pPr lvl="1"/>
            <a:r>
              <a:rPr lang="en-GB" dirty="0" err="1"/>
              <a:t>noSQL</a:t>
            </a:r>
            <a:r>
              <a:rPr lang="en-GB" dirty="0"/>
              <a:t> database often allow choice between implicit and explicit schemas</a:t>
            </a:r>
          </a:p>
          <a:p>
            <a:r>
              <a:rPr lang="en-GB" dirty="0"/>
              <a:t>Consistency requirements can slow down transactions significantly</a:t>
            </a:r>
          </a:p>
          <a:p>
            <a:pPr lvl="1"/>
            <a:r>
              <a:rPr lang="en-GB" dirty="0"/>
              <a:t>especially when data is distributed between machines</a:t>
            </a:r>
          </a:p>
          <a:p>
            <a:pPr lvl="1"/>
            <a:r>
              <a:rPr lang="en-GB" dirty="0"/>
              <a:t>Flip side: weaker consistency can lead to bugs and more complex application code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6947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GB" dirty="0"/>
              <a:t>Relational Databases and SQL are not always the best choice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Join operations can be slow on large datasets</a:t>
            </a:r>
          </a:p>
          <a:p>
            <a:r>
              <a:rPr lang="en-GB" dirty="0"/>
              <a:t>Using SQL with other languages can result in “impedance mismatch”</a:t>
            </a:r>
          </a:p>
          <a:p>
            <a:pPr lvl="1"/>
            <a:r>
              <a:rPr lang="en-GB" dirty="0"/>
              <a:t>Going between native language and relational model may require complex code</a:t>
            </a:r>
          </a:p>
          <a:p>
            <a:pPr lvl="1"/>
            <a:r>
              <a:rPr lang="en-GB" dirty="0"/>
              <a:t>Possibly causes poor performance</a:t>
            </a:r>
          </a:p>
          <a:p>
            <a:r>
              <a:rPr lang="en-GB" dirty="0"/>
              <a:t>noSQL databases are often closer to “just another library”</a:t>
            </a:r>
          </a:p>
          <a:p>
            <a:pPr lvl="1"/>
            <a:r>
              <a:rPr lang="en-GB" dirty="0"/>
              <a:t>e.g. operates like a </a:t>
            </a:r>
            <a:r>
              <a:rPr lang="en-GB" dirty="0" err="1"/>
              <a:t>hashmap</a:t>
            </a:r>
            <a:r>
              <a:rPr lang="en-GB" dirty="0"/>
              <a:t>/dictionary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9341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85DBB4-A22F-834F-BE1E-4C53D7A0F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Key-Value Stores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CE0E5-D0AB-6D4B-ACF7-8C09BC8DC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10</a:t>
            </a:fld>
            <a:endParaRPr lang="en-GB"/>
          </a:p>
        </p:txBody>
      </p:sp>
      <p:pic>
        <p:nvPicPr>
          <p:cNvPr id="1026" name="Picture 2" descr="Redis">
            <a:extLst>
              <a:ext uri="{FF2B5EF4-FFF2-40B4-BE49-F238E27FC236}">
                <a16:creationId xmlns:a16="http://schemas.microsoft.com/office/drawing/2014/main" id="{1CA0B874-E10E-E04B-A9DA-1F70226CBD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00" y="643573"/>
            <a:ext cx="2540000" cy="81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iak">
            <a:extLst>
              <a:ext uri="{FF2B5EF4-FFF2-40B4-BE49-F238E27FC236}">
                <a16:creationId xmlns:a16="http://schemas.microsoft.com/office/drawing/2014/main" id="{F26B9CBD-D77C-064A-9BF1-CD3BDF5A5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368935"/>
            <a:ext cx="1375834" cy="1362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emcached">
            <a:extLst>
              <a:ext uri="{FF2B5EF4-FFF2-40B4-BE49-F238E27FC236}">
                <a16:creationId xmlns:a16="http://schemas.microsoft.com/office/drawing/2014/main" id="{6F0D335A-2642-854D-B069-B5CC24896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51031"/>
            <a:ext cx="1846064" cy="184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cylla">
            <a:extLst>
              <a:ext uri="{FF2B5EF4-FFF2-40B4-BE49-F238E27FC236}">
                <a16:creationId xmlns:a16="http://schemas.microsoft.com/office/drawing/2014/main" id="{B2D49BE2-3828-B547-BB86-37CA45E47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7944" y="2946397"/>
            <a:ext cx="2540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evelDB">
            <a:extLst>
              <a:ext uri="{FF2B5EF4-FFF2-40B4-BE49-F238E27FC236}">
                <a16:creationId xmlns:a16="http://schemas.microsoft.com/office/drawing/2014/main" id="{D6045203-FEE9-5043-B4A1-C78A405AC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4713" y="2789171"/>
            <a:ext cx="2540000" cy="97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DynamoDB">
            <a:extLst>
              <a:ext uri="{FF2B5EF4-FFF2-40B4-BE49-F238E27FC236}">
                <a16:creationId xmlns:a16="http://schemas.microsoft.com/office/drawing/2014/main" id="{114A5BA1-064D-3A45-B98E-C013921BC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672" y="3151185"/>
            <a:ext cx="2540000" cy="88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321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Key-Value Stores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Data is in pairs &lt;</a:t>
            </a:r>
            <a:r>
              <a:rPr lang="en-GB" dirty="0" err="1"/>
              <a:t>key,value</a:t>
            </a:r>
            <a:r>
              <a:rPr lang="en-GB" dirty="0"/>
              <a:t>&gt;. E.g.</a:t>
            </a:r>
          </a:p>
          <a:p>
            <a:pPr lvl="1"/>
            <a:endParaRPr lang="en-GB" dirty="0"/>
          </a:p>
          <a:p>
            <a:pPr lvl="1"/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user:name:345 = Wilhelm</a:t>
            </a:r>
          </a:p>
          <a:p>
            <a:pPr lvl="1"/>
            <a:endParaRPr lang="en-GB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GB" dirty="0"/>
              <a:t>Keys typically have some implicit structure</a:t>
            </a:r>
          </a:p>
          <a:p>
            <a:pPr lvl="1"/>
            <a:r>
              <a:rPr lang="en-GB" dirty="0"/>
              <a:t>Perhaps the simplest form of storage</a:t>
            </a:r>
          </a:p>
          <a:p>
            <a:pPr lvl="1"/>
            <a:r>
              <a:rPr lang="en-GB" dirty="0"/>
              <a:t>Like a persistent Java </a:t>
            </a:r>
            <a:r>
              <a:rPr lang="en-GB" dirty="0" err="1"/>
              <a:t>HashMaps</a:t>
            </a:r>
            <a:endParaRPr lang="en-GB" dirty="0"/>
          </a:p>
          <a:p>
            <a:pPr lvl="1"/>
            <a:r>
              <a:rPr lang="en-GB" dirty="0"/>
              <a:t>If you know the </a:t>
            </a:r>
            <a:r>
              <a:rPr lang="en-GB" i="1" dirty="0"/>
              <a:t>key</a:t>
            </a:r>
            <a:r>
              <a:rPr lang="en-GB" dirty="0"/>
              <a:t>, you can get the </a:t>
            </a:r>
            <a:r>
              <a:rPr lang="en-GB" i="1" dirty="0"/>
              <a:t>value</a:t>
            </a:r>
          </a:p>
          <a:p>
            <a:r>
              <a:rPr lang="en-GB" dirty="0"/>
              <a:t>Atomic operations prevent concurrent write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11</a:t>
            </a:fld>
            <a:endParaRPr lang="en-GB"/>
          </a:p>
        </p:txBody>
      </p:sp>
      <p:sp>
        <p:nvSpPr>
          <p:cNvPr id="5" name="Rectangular Callout 4">
            <a:extLst>
              <a:ext uri="{FF2B5EF4-FFF2-40B4-BE49-F238E27FC236}">
                <a16:creationId xmlns:a16="http://schemas.microsoft.com/office/drawing/2014/main" id="{290C4D98-0471-0AE9-4D97-71C676F6336D}"/>
              </a:ext>
            </a:extLst>
          </p:cNvPr>
          <p:cNvSpPr/>
          <p:nvPr/>
        </p:nvSpPr>
        <p:spPr>
          <a:xfrm>
            <a:off x="1979712" y="2243492"/>
            <a:ext cx="792088" cy="288032"/>
          </a:xfrm>
          <a:prstGeom prst="wedgeRectCallout">
            <a:avLst>
              <a:gd name="adj1" fmla="val -20574"/>
              <a:gd name="adj2" fmla="val 129626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key</a:t>
            </a:r>
          </a:p>
        </p:txBody>
      </p:sp>
      <p:sp>
        <p:nvSpPr>
          <p:cNvPr id="6" name="Rectangular Callout 5">
            <a:extLst>
              <a:ext uri="{FF2B5EF4-FFF2-40B4-BE49-F238E27FC236}">
                <a16:creationId xmlns:a16="http://schemas.microsoft.com/office/drawing/2014/main" id="{E218FE34-58AC-99FA-F8D5-A25F84F8E952}"/>
              </a:ext>
            </a:extLst>
          </p:cNvPr>
          <p:cNvSpPr/>
          <p:nvPr/>
        </p:nvSpPr>
        <p:spPr>
          <a:xfrm>
            <a:off x="4572000" y="2243492"/>
            <a:ext cx="1164898" cy="288032"/>
          </a:xfrm>
          <a:prstGeom prst="wedgeRectCallout">
            <a:avLst>
              <a:gd name="adj1" fmla="val -20574"/>
              <a:gd name="adj2" fmla="val 129626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value</a:t>
            </a:r>
          </a:p>
        </p:txBody>
      </p:sp>
    </p:spTree>
    <p:extLst>
      <p:ext uri="{BB962C8B-B14F-4D97-AF65-F5344CB8AC3E}">
        <p14:creationId xmlns:p14="http://schemas.microsoft.com/office/powerpoint/2010/main" val="3636152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Example: </a:t>
            </a:r>
            <a:r>
              <a:rPr lang="en-GB" dirty="0" err="1"/>
              <a:t>Redis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00200"/>
            <a:ext cx="8280920" cy="4853136"/>
          </a:xfrm>
        </p:spPr>
        <p:txBody>
          <a:bodyPr>
            <a:normAutofit/>
          </a:bodyPr>
          <a:lstStyle/>
          <a:p>
            <a:r>
              <a:rPr lang="en-GB" u="sng" dirty="0" err="1"/>
              <a:t>RE</a:t>
            </a:r>
            <a:r>
              <a:rPr lang="en-GB" dirty="0" err="1"/>
              <a:t>mote</a:t>
            </a:r>
            <a:r>
              <a:rPr lang="en-GB" dirty="0"/>
              <a:t> </a:t>
            </a:r>
            <a:r>
              <a:rPr lang="en-GB" u="sng" dirty="0" err="1"/>
              <a:t>DI</a:t>
            </a:r>
            <a:r>
              <a:rPr lang="en-GB" dirty="0" err="1"/>
              <a:t>ctionary</a:t>
            </a:r>
            <a:r>
              <a:rPr lang="en-GB" dirty="0"/>
              <a:t> </a:t>
            </a:r>
            <a:r>
              <a:rPr lang="en-GB" u="sng" dirty="0"/>
              <a:t>S</a:t>
            </a:r>
            <a:r>
              <a:rPr lang="en-GB" dirty="0"/>
              <a:t>erver</a:t>
            </a:r>
            <a:endParaRPr lang="en-GB" dirty="0">
              <a:latin typeface="+mj-lt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All data in memory (i.e. database</a:t>
            </a:r>
            <a:br>
              <a:rPr lang="en-GB" dirty="0">
                <a:latin typeface="+mj-lt"/>
                <a:cs typeface="Courier New" panose="02070309020205020404" pitchFamily="49" charset="0"/>
              </a:rPr>
            </a:br>
            <a:r>
              <a:rPr lang="en-GB" dirty="0">
                <a:latin typeface="+mj-lt"/>
                <a:cs typeface="Courier New" panose="02070309020205020404" pitchFamily="49" charset="0"/>
              </a:rPr>
              <a:t>is entirely in RAM), with periodic disk syncing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Speeds up read and write access considerably</a:t>
            </a:r>
          </a:p>
          <a:p>
            <a:pPr lvl="1"/>
            <a:endParaRPr lang="en-GB" dirty="0">
              <a:latin typeface="+mj-lt"/>
              <a:cs typeface="Courier New" panose="02070309020205020404" pitchFamily="49" charset="0"/>
            </a:endParaRP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Other key-value stores have disk swapping, and so can store much more data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Partitioning over multiple machines is one solution to RAM limits</a:t>
            </a:r>
          </a:p>
          <a:p>
            <a:endParaRPr lang="en-GB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12</a:t>
            </a:fld>
            <a:endParaRPr lang="en-GB"/>
          </a:p>
        </p:txBody>
      </p:sp>
      <p:pic>
        <p:nvPicPr>
          <p:cNvPr id="6" name="Picture 2" descr="Redis">
            <a:extLst>
              <a:ext uri="{FF2B5EF4-FFF2-40B4-BE49-F238E27FC236}">
                <a16:creationId xmlns:a16="http://schemas.microsoft.com/office/drawing/2014/main" id="{846F1A9D-7E0B-474B-A586-6EC11C41D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19655"/>
            <a:ext cx="2000920" cy="640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9774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Example: </a:t>
            </a:r>
            <a:r>
              <a:rPr lang="en-GB" dirty="0" err="1"/>
              <a:t>Redis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00200"/>
            <a:ext cx="3078658" cy="4983162"/>
          </a:xfrm>
        </p:spPr>
        <p:txBody>
          <a:bodyPr>
            <a:normAutofit/>
          </a:bodyPr>
          <a:lstStyle/>
          <a:p>
            <a:r>
              <a:rPr lang="en-GB" sz="2800" dirty="0">
                <a:latin typeface="+mj-lt"/>
                <a:cs typeface="Courier New" panose="02070309020205020404" pitchFamily="49" charset="0"/>
              </a:rPr>
              <a:t>Master-replica distribution of databases</a:t>
            </a:r>
          </a:p>
          <a:p>
            <a:r>
              <a:rPr lang="en-GB" sz="2800" dirty="0">
                <a:latin typeface="+mj-lt"/>
                <a:cs typeface="Courier New" panose="02070309020205020404" pitchFamily="49" charset="0"/>
              </a:rPr>
              <a:t>Key ranges are distributed over machines</a:t>
            </a:r>
          </a:p>
          <a:p>
            <a:pPr lvl="1"/>
            <a:r>
              <a:rPr lang="en-GB" sz="2400" dirty="0">
                <a:latin typeface="+mj-lt"/>
                <a:cs typeface="Courier New" panose="02070309020205020404" pitchFamily="49" charset="0"/>
              </a:rPr>
              <a:t>And may have replicas to compensate when master fails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13</a:t>
            </a:fld>
            <a:endParaRPr lang="en-GB"/>
          </a:p>
        </p:txBody>
      </p:sp>
      <p:pic>
        <p:nvPicPr>
          <p:cNvPr id="6" name="Picture 2" descr="Redis">
            <a:extLst>
              <a:ext uri="{FF2B5EF4-FFF2-40B4-BE49-F238E27FC236}">
                <a16:creationId xmlns:a16="http://schemas.microsoft.com/office/drawing/2014/main" id="{846F1A9D-7E0B-474B-A586-6EC11C41D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19655"/>
            <a:ext cx="2000920" cy="640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diagram-scaling-with-OSS-cluster">
            <a:extLst>
              <a:ext uri="{FF2B5EF4-FFF2-40B4-BE49-F238E27FC236}">
                <a16:creationId xmlns:a16="http://schemas.microsoft.com/office/drawing/2014/main" id="{2DE30E51-497A-3D4F-BCD6-EC601ACBFA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2492896"/>
            <a:ext cx="5885830" cy="4193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BFC7286-81AD-4648-B8F7-71EFC34FC0CF}"/>
              </a:ext>
            </a:extLst>
          </p:cNvPr>
          <p:cNvSpPr/>
          <p:nvPr/>
        </p:nvSpPr>
        <p:spPr>
          <a:xfrm>
            <a:off x="4932040" y="1544646"/>
            <a:ext cx="45720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113" lvl="1"/>
            <a:r>
              <a:rPr lang="en-GB" sz="1400" dirty="0">
                <a:cs typeface="Courier New" panose="02070309020205020404" pitchFamily="49" charset="0"/>
                <a:hlinkClick r:id="rId4"/>
              </a:rPr>
              <a:t>https://redis.io/docs/manual/scaling/</a:t>
            </a:r>
            <a:endParaRPr lang="en-GB" sz="1400" dirty="0">
              <a:cs typeface="Courier New" panose="02070309020205020404" pitchFamily="49" charset="0"/>
            </a:endParaRPr>
          </a:p>
          <a:p>
            <a:pPr marL="11113" lvl="1"/>
            <a:r>
              <a:rPr lang="en-GB" sz="1400" dirty="0">
                <a:cs typeface="Courier New" panose="02070309020205020404" pitchFamily="49" charset="0"/>
              </a:rPr>
              <a:t>https://</a:t>
            </a:r>
            <a:r>
              <a:rPr lang="en-GB" sz="1400" dirty="0" err="1">
                <a:cs typeface="Courier New" panose="02070309020205020404" pitchFamily="49" charset="0"/>
              </a:rPr>
              <a:t>redis.com</a:t>
            </a:r>
            <a:r>
              <a:rPr lang="en-GB" sz="1400" dirty="0">
                <a:cs typeface="Courier New" panose="02070309020205020404" pitchFamily="49" charset="0"/>
              </a:rPr>
              <a:t>/</a:t>
            </a:r>
            <a:r>
              <a:rPr lang="en-GB" sz="1400" dirty="0" err="1">
                <a:cs typeface="Courier New" panose="02070309020205020404" pitchFamily="49" charset="0"/>
              </a:rPr>
              <a:t>redis</a:t>
            </a:r>
            <a:r>
              <a:rPr lang="en-GB" sz="1400" dirty="0">
                <a:cs typeface="Courier New" panose="02070309020205020404" pitchFamily="49" charset="0"/>
              </a:rPr>
              <a:t>-enterprise/technology/linear-scaling-</a:t>
            </a:r>
            <a:r>
              <a:rPr lang="en-GB" sz="1400" dirty="0" err="1">
                <a:cs typeface="Courier New" panose="02070309020205020404" pitchFamily="49" charset="0"/>
              </a:rPr>
              <a:t>redis</a:t>
            </a:r>
            <a:r>
              <a:rPr lang="en-GB" sz="1400" dirty="0">
                <a:cs typeface="Courier New" panose="02070309020205020404" pitchFamily="49" charset="0"/>
              </a:rPr>
              <a:t>-enterprise/</a:t>
            </a:r>
          </a:p>
        </p:txBody>
      </p:sp>
    </p:spTree>
    <p:extLst>
      <p:ext uri="{BB962C8B-B14F-4D97-AF65-F5344CB8AC3E}">
        <p14:creationId xmlns:p14="http://schemas.microsoft.com/office/powerpoint/2010/main" val="2116489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Example: </a:t>
            </a:r>
            <a:r>
              <a:rPr lang="en-GB" dirty="0" err="1"/>
              <a:t>Redis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+mj-lt"/>
                <a:cs typeface="Courier New" panose="02070309020205020404" pitchFamily="49" charset="0"/>
              </a:rPr>
              <a:t>Bindings to various other languages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C++, </a:t>
            </a:r>
            <a:r>
              <a:rPr lang="en-GB" dirty="0" err="1">
                <a:latin typeface="+mj-lt"/>
                <a:cs typeface="Courier New" panose="02070309020205020404" pitchFamily="49" charset="0"/>
              </a:rPr>
              <a:t>.Net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, Java, </a:t>
            </a:r>
            <a:r>
              <a:rPr lang="en-GB" dirty="0" err="1">
                <a:latin typeface="+mj-lt"/>
                <a:cs typeface="Courier New" panose="02070309020205020404" pitchFamily="49" charset="0"/>
              </a:rPr>
              <a:t>Erlang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, Python, …</a:t>
            </a: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Various data types for values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including basic data types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collections such as</a:t>
            </a:r>
          </a:p>
          <a:p>
            <a:pPr lvl="2"/>
            <a:r>
              <a:rPr lang="en-GB" dirty="0">
                <a:latin typeface="+mj-lt"/>
                <a:cs typeface="Courier New" panose="02070309020205020404" pitchFamily="49" charset="0"/>
              </a:rPr>
              <a:t>Lists</a:t>
            </a:r>
          </a:p>
          <a:p>
            <a:pPr lvl="2"/>
            <a:r>
              <a:rPr lang="en-GB" dirty="0">
                <a:latin typeface="+mj-lt"/>
                <a:cs typeface="Courier New" panose="02070309020205020404" pitchFamily="49" charset="0"/>
              </a:rPr>
              <a:t>Sets</a:t>
            </a:r>
          </a:p>
          <a:p>
            <a:pPr lvl="2"/>
            <a:r>
              <a:rPr lang="en-GB" dirty="0" err="1">
                <a:latin typeface="+mj-lt"/>
                <a:cs typeface="Courier New" panose="02070309020205020404" pitchFamily="49" charset="0"/>
              </a:rPr>
              <a:t>Hashsets</a:t>
            </a:r>
            <a:endParaRPr lang="en-GB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14</a:t>
            </a:fld>
            <a:endParaRPr lang="en-GB"/>
          </a:p>
        </p:txBody>
      </p:sp>
      <p:pic>
        <p:nvPicPr>
          <p:cNvPr id="6" name="Picture 2" descr="Redis">
            <a:extLst>
              <a:ext uri="{FF2B5EF4-FFF2-40B4-BE49-F238E27FC236}">
                <a16:creationId xmlns:a16="http://schemas.microsoft.com/office/drawing/2014/main" id="{846F1A9D-7E0B-474B-A586-6EC11C41D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19655"/>
            <a:ext cx="2000920" cy="640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0451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 err="1">
                <a:latin typeface="+mj-lt"/>
                <a:cs typeface="Courier New" panose="02070309020205020404" pitchFamily="49" charset="0"/>
              </a:rPr>
              <a:t>Redis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 Operations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>
                <a:cs typeface="Courier New" panose="02070309020205020404" pitchFamily="49" charset="0"/>
              </a:rPr>
              <a:t>No transactions as we know them,</a:t>
            </a:r>
            <a:br>
              <a:rPr lang="en-GB" dirty="0">
                <a:cs typeface="Courier New" panose="02070309020205020404" pitchFamily="49" charset="0"/>
              </a:rPr>
            </a:br>
            <a:r>
              <a:rPr lang="en-GB" dirty="0">
                <a:cs typeface="Courier New" panose="02070309020205020404" pitchFamily="49" charset="0"/>
              </a:rPr>
              <a:t>only command queues</a:t>
            </a:r>
          </a:p>
          <a:p>
            <a:pPr lvl="1"/>
            <a:r>
              <a:rPr lang="en-GB" dirty="0">
                <a:cs typeface="Courier New" panose="02070309020205020404" pitchFamily="49" charset="0"/>
              </a:rPr>
              <a:t>No rollback etc because it has run-time overhead</a:t>
            </a:r>
          </a:p>
          <a:p>
            <a:pPr marL="0" indent="0">
              <a:buNone/>
            </a:pPr>
            <a:endParaRPr lang="en-GB" sz="1700" dirty="0">
              <a:latin typeface="+mj-lt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Example of some simple operations:</a:t>
            </a:r>
          </a:p>
          <a:p>
            <a:pPr marL="400050" lvl="1" indent="0">
              <a:buNone/>
            </a:pP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SET account 36 </a:t>
            </a:r>
            <a:r>
              <a:rPr lang="en-GB" sz="2400" dirty="0"/>
              <a:t>– key is </a:t>
            </a:r>
            <a:r>
              <a:rPr lang="en-GB" sz="2400" b="1" dirty="0"/>
              <a:t>account</a:t>
            </a:r>
            <a:r>
              <a:rPr lang="en-GB" sz="2400" dirty="0"/>
              <a:t>, value is </a:t>
            </a:r>
            <a:r>
              <a:rPr lang="en-GB" sz="2400" b="1" dirty="0"/>
              <a:t>36</a:t>
            </a:r>
          </a:p>
          <a:p>
            <a:pPr marL="400050" lvl="1" indent="0">
              <a:buNone/>
            </a:pP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GET account </a:t>
            </a:r>
            <a:r>
              <a:rPr lang="en-GB" sz="2400" dirty="0"/>
              <a:t>– returns the value for the key</a:t>
            </a:r>
          </a:p>
          <a:p>
            <a:pPr marL="400050" lvl="1" indent="0">
              <a:buNone/>
            </a:pP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someKeys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KEYS(id*)</a:t>
            </a:r>
            <a:r>
              <a:rPr lang="en-GB" sz="2400" dirty="0"/>
              <a:t> – returns the keys starting with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endParaRPr lang="en-GB" sz="2400" b="1" dirty="0"/>
          </a:p>
          <a:p>
            <a:pPr marL="0" indent="0">
              <a:buNone/>
            </a:pPr>
            <a:endParaRPr lang="en-GB" sz="1700" dirty="0"/>
          </a:p>
          <a:p>
            <a:r>
              <a:rPr lang="en-GB" dirty="0"/>
              <a:t>Atomic operations, such as adding values or appending strings.</a:t>
            </a:r>
            <a:br>
              <a:rPr lang="en-GB" dirty="0"/>
            </a:br>
            <a:r>
              <a:rPr lang="en-GB" dirty="0"/>
              <a:t>Example: </a:t>
            </a:r>
            <a:r>
              <a:rPr lang="en-GB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INCR account</a:t>
            </a:r>
            <a:r>
              <a:rPr lang="en-GB" sz="2600" dirty="0"/>
              <a:t> – add one to the account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15</a:t>
            </a:fld>
            <a:endParaRPr lang="en-GB"/>
          </a:p>
        </p:txBody>
      </p:sp>
      <p:pic>
        <p:nvPicPr>
          <p:cNvPr id="5" name="Picture 2" descr="Redis">
            <a:extLst>
              <a:ext uri="{FF2B5EF4-FFF2-40B4-BE49-F238E27FC236}">
                <a16:creationId xmlns:a16="http://schemas.microsoft.com/office/drawing/2014/main" id="{8CB09754-97FE-FD44-934F-2717591B4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19655"/>
            <a:ext cx="2000920" cy="640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0168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 err="1"/>
              <a:t>Redis</a:t>
            </a:r>
            <a:r>
              <a:rPr lang="en-GB" dirty="0"/>
              <a:t> Atomic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dirty="0"/>
              <a:t>Why atomic operations? Because of concurrent access</a:t>
            </a:r>
          </a:p>
          <a:p>
            <a:pPr lvl="1"/>
            <a:r>
              <a:rPr lang="en-GB" dirty="0"/>
              <a:t>There is manual optimistic locking support</a:t>
            </a:r>
          </a:p>
          <a:p>
            <a:r>
              <a:rPr lang="en-GB" dirty="0"/>
              <a:t>Not using atomic operations:</a:t>
            </a:r>
          </a:p>
          <a:p>
            <a:pPr marL="400050" lvl="2" indent="0">
              <a:buNone/>
            </a:pPr>
            <a:r>
              <a:rPr lang="en-GB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Client A reads </a:t>
            </a: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en-GB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as </a:t>
            </a: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pPr marL="400050" lvl="2" indent="0">
              <a:buNone/>
            </a:pPr>
            <a:r>
              <a:rPr lang="en-GB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Client B reads </a:t>
            </a: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en-GB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as </a:t>
            </a: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pPr marL="400050" lvl="2" indent="0">
              <a:buNone/>
            </a:pPr>
            <a:r>
              <a:rPr lang="en-GB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Client A increments </a:t>
            </a: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10 </a:t>
            </a:r>
            <a:r>
              <a:rPr lang="en-GB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and sets </a:t>
            </a: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count </a:t>
            </a:r>
            <a:r>
              <a:rPr lang="en-GB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to </a:t>
            </a: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pPr marL="400050" lvl="2" indent="0">
              <a:buNone/>
            </a:pPr>
            <a:r>
              <a:rPr lang="en-GB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Client B increments </a:t>
            </a: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10 </a:t>
            </a:r>
            <a:r>
              <a:rPr lang="en-GB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and sets </a:t>
            </a: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count </a:t>
            </a:r>
            <a:r>
              <a:rPr lang="en-GB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to </a:t>
            </a: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GB" dirty="0"/>
              <a:t>Client A update is lost</a:t>
            </a:r>
          </a:p>
          <a:p>
            <a:endParaRPr lang="en-GB" dirty="0"/>
          </a:p>
          <a:p>
            <a:r>
              <a:rPr lang="en-GB" dirty="0"/>
              <a:t>With atomic operations</a:t>
            </a:r>
          </a:p>
          <a:p>
            <a:pPr marL="400050" lvl="2" indent="0">
              <a:buNone/>
            </a:pPr>
            <a:r>
              <a:rPr lang="en-GB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Client A increments </a:t>
            </a: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en-GB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with atomic op, it is now </a:t>
            </a: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pPr marL="400050" lvl="2" indent="0">
              <a:buNone/>
            </a:pPr>
            <a:r>
              <a:rPr lang="en-GB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Client B increments </a:t>
            </a: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en-GB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with atomic op, it is now </a:t>
            </a: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GB" dirty="0"/>
              <a:t>Client A update is retained</a:t>
            </a:r>
          </a:p>
          <a:p>
            <a:endParaRPr lang="en-GB" dirty="0"/>
          </a:p>
          <a:p>
            <a:r>
              <a:rPr lang="en-GB" dirty="0"/>
              <a:t>REDIS has support for Atomic and Isolated command groups (they call them transactions)</a:t>
            </a:r>
          </a:p>
          <a:p>
            <a:pPr lvl="1"/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MULTI</a:t>
            </a:r>
            <a:r>
              <a:rPr lang="en-GB" dirty="0"/>
              <a:t> starts a transaction</a:t>
            </a:r>
          </a:p>
          <a:p>
            <a:pPr lvl="1"/>
            <a:r>
              <a:rPr lang="en-GB" dirty="0"/>
              <a:t>Subsequent commands are queued</a:t>
            </a:r>
          </a:p>
          <a:p>
            <a:pPr lvl="1"/>
            <a:r>
              <a:rPr lang="en-GB" dirty="0"/>
              <a:t>All commands are executed with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EXEC</a:t>
            </a:r>
            <a:r>
              <a:rPr lang="en-GB" dirty="0">
                <a:cs typeface="Consolas" panose="020B0609020204030204" pitchFamily="49" charset="0"/>
              </a:rPr>
              <a:t>, giving all-or-nothing and isolation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16</a:t>
            </a:fld>
            <a:endParaRPr lang="en-GB"/>
          </a:p>
        </p:txBody>
      </p:sp>
      <p:pic>
        <p:nvPicPr>
          <p:cNvPr id="5" name="Picture 2" descr="Redis">
            <a:extLst>
              <a:ext uri="{FF2B5EF4-FFF2-40B4-BE49-F238E27FC236}">
                <a16:creationId xmlns:a16="http://schemas.microsoft.com/office/drawing/2014/main" id="{7E88673E-AB76-2346-ADCF-45EAA8129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7584" y="44624"/>
            <a:ext cx="2000920" cy="640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0773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Datasets with </a:t>
            </a:r>
            <a:r>
              <a:rPr lang="en-GB" dirty="0" err="1"/>
              <a:t>Redis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141168"/>
          </a:xfrm>
        </p:spPr>
        <p:txBody>
          <a:bodyPr>
            <a:normAutofit/>
          </a:bodyPr>
          <a:lstStyle/>
          <a:p>
            <a:r>
              <a:rPr lang="en-GB" dirty="0"/>
              <a:t>Datasets can be stored in various ways. For example, information about people</a:t>
            </a:r>
          </a:p>
          <a:p>
            <a:pPr marL="400050" lvl="1" indent="0">
              <a:buNone/>
            </a:pPr>
            <a:r>
              <a:rPr lang="en-GB" sz="2300" dirty="0">
                <a:latin typeface="Consolas" panose="020B0609020204030204" pitchFamily="49" charset="0"/>
                <a:cs typeface="Consolas" panose="020B0609020204030204" pitchFamily="49" charset="0"/>
              </a:rPr>
              <a:t>SET user:name:1000 "Andy Cee"</a:t>
            </a:r>
          </a:p>
          <a:p>
            <a:pPr marL="400050" lvl="1" indent="0">
              <a:buNone/>
            </a:pPr>
            <a:r>
              <a:rPr lang="en-GB" sz="2300" dirty="0">
                <a:latin typeface="Consolas" panose="020B0609020204030204" pitchFamily="49" charset="0"/>
                <a:cs typeface="Consolas" panose="020B0609020204030204" pitchFamily="49" charset="0"/>
              </a:rPr>
              <a:t>SET user:email:1000 "a.cee@eg.com"</a:t>
            </a:r>
          </a:p>
          <a:p>
            <a:endParaRPr lang="en-GB" dirty="0"/>
          </a:p>
          <a:p>
            <a:r>
              <a:rPr lang="en-GB" dirty="0"/>
              <a:t>Retrieve all user data with</a:t>
            </a:r>
          </a:p>
          <a:p>
            <a:pPr marL="400050" lvl="1" indent="0">
              <a:buNone/>
            </a:pPr>
            <a:r>
              <a:rPr lang="en-GB" sz="2300" dirty="0">
                <a:latin typeface="Consolas" panose="020B0609020204030204" pitchFamily="49" charset="0"/>
                <a:cs typeface="Consolas" panose="020B0609020204030204" pitchFamily="49" charset="0"/>
              </a:rPr>
              <a:t>user1000Keys = KEYS(user:*:1000)</a:t>
            </a:r>
          </a:p>
          <a:p>
            <a:pPr lvl="1"/>
            <a:r>
              <a:rPr lang="en-GB" sz="2300" dirty="0">
                <a:cs typeface="Courier New" panose="02070309020205020404" pitchFamily="49" charset="0"/>
              </a:rPr>
              <a:t>then iterate through the keys in </a:t>
            </a:r>
            <a:r>
              <a:rPr lang="en-GB" sz="2300" dirty="0">
                <a:latin typeface="Consolas" panose="020B0609020204030204" pitchFamily="49" charset="0"/>
                <a:cs typeface="Consolas" panose="020B0609020204030204" pitchFamily="49" charset="0"/>
              </a:rPr>
              <a:t>user1000Keys</a:t>
            </a:r>
            <a:r>
              <a:rPr lang="en-GB" sz="2300" dirty="0">
                <a:cs typeface="Consolas" panose="020B0609020204030204" pitchFamily="49" charset="0"/>
              </a:rPr>
              <a:t> using application code</a:t>
            </a:r>
          </a:p>
          <a:p>
            <a:pPr marL="0" indent="0">
              <a:buNone/>
            </a:pPr>
            <a:endParaRPr lang="en-GB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17</a:t>
            </a:fld>
            <a:endParaRPr lang="en-GB"/>
          </a:p>
        </p:txBody>
      </p:sp>
      <p:pic>
        <p:nvPicPr>
          <p:cNvPr id="5" name="Picture 2" descr="Redis">
            <a:extLst>
              <a:ext uri="{FF2B5EF4-FFF2-40B4-BE49-F238E27FC236}">
                <a16:creationId xmlns:a16="http://schemas.microsoft.com/office/drawing/2014/main" id="{50AB0A60-02FD-F34A-B7FD-145CCDD03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7584" y="44624"/>
            <a:ext cx="2000920" cy="640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57379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Datasets with </a:t>
            </a:r>
            <a:r>
              <a:rPr lang="en-GB" dirty="0" err="1"/>
              <a:t>Redis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141168"/>
          </a:xfrm>
        </p:spPr>
        <p:txBody>
          <a:bodyPr>
            <a:normAutofit/>
          </a:bodyPr>
          <a:lstStyle/>
          <a:p>
            <a:r>
              <a:rPr lang="en-GB" dirty="0"/>
              <a:t>Datasets can be stored in various ways. For example, information about people</a:t>
            </a:r>
          </a:p>
          <a:p>
            <a:pPr marL="400050" lvl="1" indent="0">
              <a:buNone/>
            </a:pPr>
            <a:r>
              <a:rPr lang="en-GB" sz="2300" dirty="0">
                <a:latin typeface="Consolas" panose="020B0609020204030204" pitchFamily="49" charset="0"/>
                <a:cs typeface="Consolas" panose="020B0609020204030204" pitchFamily="49" charset="0"/>
              </a:rPr>
              <a:t>SET user:name:1000 "Andy Cee"</a:t>
            </a:r>
          </a:p>
          <a:p>
            <a:pPr marL="400050" lvl="1" indent="0">
              <a:buNone/>
            </a:pPr>
            <a:r>
              <a:rPr lang="en-GB" sz="2300" dirty="0">
                <a:latin typeface="Consolas" panose="020B0609020204030204" pitchFamily="49" charset="0"/>
                <a:cs typeface="Consolas" panose="020B0609020204030204" pitchFamily="49" charset="0"/>
              </a:rPr>
              <a:t>SET user:email:1000 "a.cee@eg.com"</a:t>
            </a:r>
          </a:p>
          <a:p>
            <a:endParaRPr lang="en-GB" dirty="0"/>
          </a:p>
          <a:p>
            <a:r>
              <a:rPr lang="en-GB" dirty="0"/>
              <a:t>Alternatively, with a </a:t>
            </a:r>
            <a:r>
              <a:rPr lang="en-GB" dirty="0" err="1"/>
              <a:t>hashset</a:t>
            </a:r>
            <a:endParaRPr lang="en-GB" dirty="0"/>
          </a:p>
          <a:p>
            <a:pPr marL="400050" lvl="1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HSET user:1000 name "Andy Cee"</a:t>
            </a:r>
          </a:p>
          <a:p>
            <a:pPr marL="400050" lvl="1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HSET user:1000 email "a.cee@eg.com"</a:t>
            </a:r>
          </a:p>
          <a:p>
            <a:r>
              <a:rPr lang="en-GB" dirty="0"/>
              <a:t>Retrieved with</a:t>
            </a:r>
          </a:p>
          <a:p>
            <a:pPr marL="400050" lvl="1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HGETALL user:1000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18</a:t>
            </a:fld>
            <a:endParaRPr lang="en-GB"/>
          </a:p>
        </p:txBody>
      </p:sp>
      <p:pic>
        <p:nvPicPr>
          <p:cNvPr id="5" name="Picture 2" descr="Redis">
            <a:extLst>
              <a:ext uri="{FF2B5EF4-FFF2-40B4-BE49-F238E27FC236}">
                <a16:creationId xmlns:a16="http://schemas.microsoft.com/office/drawing/2014/main" id="{50AB0A60-02FD-F34A-B7FD-145CCDD03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7584" y="44624"/>
            <a:ext cx="2000920" cy="640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85553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0000"/>
                </a:solidFill>
              </a:rPr>
              <a:t>Quick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70C0"/>
                </a:solidFill>
              </a:rPr>
              <a:t>Assume we store data like this:</a:t>
            </a:r>
          </a:p>
          <a:p>
            <a:pPr marL="800100" lvl="2" indent="0">
              <a:buNone/>
            </a:pPr>
            <a:r>
              <a:rPr lang="en-GB" sz="23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 user:email:1000 "</a:t>
            </a:r>
            <a:r>
              <a:rPr lang="en-GB" sz="23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a.cee@eg.com</a:t>
            </a:r>
            <a:r>
              <a:rPr lang="en-GB" sz="23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pPr marL="800100" lvl="2" indent="0">
              <a:buNone/>
            </a:pPr>
            <a:r>
              <a:rPr lang="en-GB" sz="23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user1000Keys = KEYS(user:*:1000)</a:t>
            </a:r>
          </a:p>
          <a:p>
            <a:pPr marL="0" indent="0">
              <a:buNone/>
            </a:pPr>
            <a:endParaRPr lang="en-GB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0070C0"/>
                </a:solidFill>
              </a:rPr>
              <a:t>Write </a:t>
            </a:r>
            <a:r>
              <a:rPr lang="en-GB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GB" b="1" dirty="0">
                <a:solidFill>
                  <a:srgbClr val="0070C0"/>
                </a:solidFill>
              </a:rPr>
              <a:t> commands to add data for user </a:t>
            </a:r>
            <a:r>
              <a:rPr lang="en-GB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1001</a:t>
            </a:r>
          </a:p>
          <a:p>
            <a:r>
              <a:rPr lang="en-GB" b="1" dirty="0">
                <a:solidFill>
                  <a:srgbClr val="0070C0"/>
                </a:solidFill>
              </a:rPr>
              <a:t>Name: </a:t>
            </a:r>
            <a:r>
              <a:rPr lang="en-GB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Jill Jefferies</a:t>
            </a:r>
            <a:r>
              <a:rPr lang="en-GB" b="1" dirty="0">
                <a:solidFill>
                  <a:srgbClr val="0070C0"/>
                </a:solidFill>
              </a:rPr>
              <a:t> </a:t>
            </a:r>
          </a:p>
          <a:p>
            <a:r>
              <a:rPr lang="en-GB" b="1" dirty="0">
                <a:solidFill>
                  <a:srgbClr val="0070C0"/>
                </a:solidFill>
              </a:rPr>
              <a:t>Email: </a:t>
            </a:r>
            <a:r>
              <a:rPr lang="en-GB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j.j@email.com</a:t>
            </a:r>
          </a:p>
          <a:p>
            <a:pPr marL="0" indent="0">
              <a:buNone/>
            </a:pPr>
            <a:endParaRPr lang="en-GB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 user:name:1001 "Jill Jefferies"</a:t>
            </a:r>
          </a:p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 user:email:1001 "</a:t>
            </a:r>
            <a:r>
              <a:rPr lang="en-GB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j.j@email.com</a:t>
            </a: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pPr marL="514350" indent="-514350">
              <a:buFont typeface="+mj-lt"/>
              <a:buAutoNum type="arabicPeriod"/>
            </a:pPr>
            <a:endParaRPr lang="en-GB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0070C0"/>
                </a:solidFill>
                <a:cs typeface="Courier New" panose="02070309020205020404" pitchFamily="49" charset="0"/>
              </a:rPr>
              <a:t>Write a command to get the keys of all users in the database</a:t>
            </a:r>
          </a:p>
          <a:p>
            <a:pPr marL="0" indent="0">
              <a:buNone/>
            </a:pPr>
            <a:r>
              <a:rPr lang="en-GB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userKeys</a:t>
            </a: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KEYS(user:*)</a:t>
            </a:r>
            <a:endParaRPr lang="en-GB" dirty="0">
              <a:solidFill>
                <a:srgbClr val="FF0000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0219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4F917CC-A6C8-4C4F-AB0A-DF3889F0E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Wide Column Stores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C5913-FEC9-C044-93B3-76122D077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20</a:t>
            </a:fld>
            <a:endParaRPr lang="en-GB"/>
          </a:p>
        </p:txBody>
      </p:sp>
      <p:pic>
        <p:nvPicPr>
          <p:cNvPr id="8194" name="Picture 2" descr="Cassandra">
            <a:extLst>
              <a:ext uri="{FF2B5EF4-FFF2-40B4-BE49-F238E27FC236}">
                <a16:creationId xmlns:a16="http://schemas.microsoft.com/office/drawing/2014/main" id="{A30549D1-D846-444E-8140-2D38D4660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250825"/>
            <a:ext cx="25400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ANA">
            <a:extLst>
              <a:ext uri="{FF2B5EF4-FFF2-40B4-BE49-F238E27FC236}">
                <a16:creationId xmlns:a16="http://schemas.microsoft.com/office/drawing/2014/main" id="{E4032A75-21A2-D447-BFD6-ABEC6B555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3382" y="1018433"/>
            <a:ext cx="1513417" cy="438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Cloud BigTable">
            <a:extLst>
              <a:ext uri="{FF2B5EF4-FFF2-40B4-BE49-F238E27FC236}">
                <a16:creationId xmlns:a16="http://schemas.microsoft.com/office/drawing/2014/main" id="{E7B100EA-8914-5442-A631-4CB6AEA7E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457" y="1018433"/>
            <a:ext cx="1513417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Scylla">
            <a:extLst>
              <a:ext uri="{FF2B5EF4-FFF2-40B4-BE49-F238E27FC236}">
                <a16:creationId xmlns:a16="http://schemas.microsoft.com/office/drawing/2014/main" id="{AC064B69-B558-E34A-A57E-B96006140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696" y="3538463"/>
            <a:ext cx="2540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Accumulo">
            <a:extLst>
              <a:ext uri="{FF2B5EF4-FFF2-40B4-BE49-F238E27FC236}">
                <a16:creationId xmlns:a16="http://schemas.microsoft.com/office/drawing/2014/main" id="{63B2B3B5-918A-4A44-BEA9-991E8AA6C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3393184"/>
            <a:ext cx="2540000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 descr="Hypertable">
            <a:extLst>
              <a:ext uri="{FF2B5EF4-FFF2-40B4-BE49-F238E27FC236}">
                <a16:creationId xmlns:a16="http://schemas.microsoft.com/office/drawing/2014/main" id="{E08BB6B6-AF25-1840-A4BD-594057D37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0" y="2520244"/>
            <a:ext cx="2540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40525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Wide Column Stores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Like SQL, tables are the main means of storage</a:t>
            </a:r>
          </a:p>
          <a:p>
            <a:endParaRPr lang="en-GB" dirty="0"/>
          </a:p>
          <a:p>
            <a:r>
              <a:rPr lang="en-GB" dirty="0"/>
              <a:t>But differ significantly</a:t>
            </a:r>
          </a:p>
          <a:p>
            <a:pPr lvl="1"/>
            <a:r>
              <a:rPr lang="en-GB" dirty="0"/>
              <a:t>The first column of each table is a key</a:t>
            </a:r>
          </a:p>
          <a:p>
            <a:pPr lvl="1"/>
            <a:r>
              <a:rPr lang="en-GB" b="1" dirty="0"/>
              <a:t>Each row</a:t>
            </a:r>
            <a:r>
              <a:rPr lang="en-GB" dirty="0"/>
              <a:t> can have a </a:t>
            </a:r>
            <a:r>
              <a:rPr lang="en-GB" b="1" dirty="0"/>
              <a:t>different set of columns</a:t>
            </a:r>
          </a:p>
          <a:p>
            <a:pPr lvl="1"/>
            <a:r>
              <a:rPr lang="en-GB" dirty="0"/>
              <a:t>Rows, columns, or elements are often time-stamped to provide a temporal functionality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6890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Wide Column Stores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Schema can be implicit</a:t>
            </a:r>
          </a:p>
          <a:p>
            <a:r>
              <a:rPr lang="en-GB" b="1" dirty="0"/>
              <a:t>No support for JOIN operation</a:t>
            </a:r>
          </a:p>
          <a:p>
            <a:r>
              <a:rPr lang="en-GB" dirty="0"/>
              <a:t>Distributed, asynchronous replication</a:t>
            </a:r>
          </a:p>
          <a:p>
            <a:pPr lvl="1"/>
            <a:r>
              <a:rPr lang="en-GB" dirty="0"/>
              <a:t>No need to update all duplicates at once</a:t>
            </a:r>
          </a:p>
          <a:p>
            <a:r>
              <a:rPr lang="en-GB" dirty="0"/>
              <a:t>Original implementation was Google </a:t>
            </a:r>
            <a:r>
              <a:rPr lang="en-GB" dirty="0" err="1"/>
              <a:t>BigTable</a:t>
            </a:r>
            <a:endParaRPr lang="en-GB" dirty="0"/>
          </a:p>
          <a:p>
            <a:pPr lvl="1"/>
            <a:r>
              <a:rPr lang="en-GB" dirty="0"/>
              <a:t>e.g. used for </a:t>
            </a:r>
            <a:r>
              <a:rPr lang="en-GB" dirty="0" err="1"/>
              <a:t>GMail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22</a:t>
            </a:fld>
            <a:endParaRPr lang="en-GB"/>
          </a:p>
        </p:txBody>
      </p:sp>
      <p:pic>
        <p:nvPicPr>
          <p:cNvPr id="5" name="Picture 6" descr="Cloud BigTable">
            <a:extLst>
              <a:ext uri="{FF2B5EF4-FFF2-40B4-BE49-F238E27FC236}">
                <a16:creationId xmlns:a16="http://schemas.microsoft.com/office/drawing/2014/main" id="{A0FC6039-5E62-4F41-990C-7C70D0382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3291" y="4576762"/>
            <a:ext cx="1513417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93450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Cassandra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600200"/>
            <a:ext cx="8363272" cy="4997152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Claims to be the best performing noSQL database</a:t>
            </a:r>
          </a:p>
          <a:p>
            <a:pPr lvl="1"/>
            <a:r>
              <a:rPr lang="en-GB" dirty="0"/>
              <a:t>Apple installation has over 100 </a:t>
            </a:r>
            <a:r>
              <a:rPr lang="en-GB" dirty="0" err="1"/>
              <a:t>PetaBytes</a:t>
            </a:r>
            <a:r>
              <a:rPr lang="en-GB" dirty="0"/>
              <a:t> of data (</a:t>
            </a:r>
            <a:r>
              <a:rPr lang="en-GB" dirty="0" err="1"/>
              <a:t>PetaByte</a:t>
            </a:r>
            <a:r>
              <a:rPr lang="en-GB" dirty="0"/>
              <a:t>: 10</a:t>
            </a:r>
            <a:r>
              <a:rPr lang="en-GB" baseline="30000" dirty="0"/>
              <a:t>15</a:t>
            </a:r>
            <a:r>
              <a:rPr lang="en-GB" dirty="0"/>
              <a:t> bytes, 1000 </a:t>
            </a:r>
            <a:r>
              <a:rPr lang="en-GB" dirty="0" err="1"/>
              <a:t>TeraBytes</a:t>
            </a:r>
            <a:r>
              <a:rPr lang="en-GB" dirty="0"/>
              <a:t>)</a:t>
            </a:r>
          </a:p>
          <a:p>
            <a:pPr lvl="1"/>
            <a:r>
              <a:rPr lang="en-GB" sz="1200" dirty="0"/>
              <a:t>https://</a:t>
            </a:r>
            <a:r>
              <a:rPr lang="en-GB" sz="1200" dirty="0" err="1"/>
              <a:t>news.apache.org</a:t>
            </a:r>
            <a:r>
              <a:rPr lang="en-GB" sz="1200" dirty="0"/>
              <a:t>/foundation/entry/the-</a:t>
            </a:r>
            <a:r>
              <a:rPr lang="en-GB" sz="1200" dirty="0" err="1"/>
              <a:t>apache</a:t>
            </a:r>
            <a:r>
              <a:rPr lang="en-GB" sz="1200" dirty="0"/>
              <a:t>-</a:t>
            </a:r>
            <a:r>
              <a:rPr lang="en-GB" sz="1200" dirty="0" err="1"/>
              <a:t>cassandra</a:t>
            </a:r>
            <a:r>
              <a:rPr lang="en-GB" sz="1200" dirty="0"/>
              <a:t>-project-releases</a:t>
            </a:r>
          </a:p>
          <a:p>
            <a:r>
              <a:rPr lang="en-GB" dirty="0"/>
              <a:t>Architecture designed for distribution</a:t>
            </a:r>
          </a:p>
          <a:p>
            <a:pPr lvl="1"/>
            <a:r>
              <a:rPr lang="en-GB" dirty="0"/>
              <a:t>Peer-to-peer (contrast to master-replica)</a:t>
            </a:r>
          </a:p>
          <a:p>
            <a:pPr lvl="1"/>
            <a:r>
              <a:rPr lang="en-GB" dirty="0"/>
              <a:t>improving scalability by adding nodes is relatively easy</a:t>
            </a:r>
          </a:p>
          <a:p>
            <a:pPr lvl="1"/>
            <a:r>
              <a:rPr lang="en-GB" dirty="0"/>
              <a:t>single cluster with up to 1000 nodes, i.e., machines</a:t>
            </a:r>
          </a:p>
          <a:p>
            <a:r>
              <a:rPr lang="en-GB" dirty="0"/>
              <a:t>Any column can be indexed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23</a:t>
            </a:fld>
            <a:endParaRPr lang="en-GB"/>
          </a:p>
        </p:txBody>
      </p:sp>
      <p:pic>
        <p:nvPicPr>
          <p:cNvPr id="5" name="Picture 2" descr="Cassandra">
            <a:extLst>
              <a:ext uri="{FF2B5EF4-FFF2-40B4-BE49-F238E27FC236}">
                <a16:creationId xmlns:a16="http://schemas.microsoft.com/office/drawing/2014/main" id="{3EA9E950-91A9-6943-90DE-8C5D2F763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3078" y="192386"/>
            <a:ext cx="1856442" cy="1225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8241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Cassandra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600200"/>
            <a:ext cx="8363272" cy="4997152"/>
          </a:xfrm>
        </p:spPr>
        <p:txBody>
          <a:bodyPr>
            <a:normAutofit/>
          </a:bodyPr>
          <a:lstStyle/>
          <a:p>
            <a:r>
              <a:rPr lang="en-GB" dirty="0"/>
              <a:t>No native locking supported</a:t>
            </a:r>
          </a:p>
          <a:p>
            <a:pPr lvl="1"/>
            <a:r>
              <a:rPr lang="en-GB" dirty="0"/>
              <a:t>Changes logged at each node</a:t>
            </a:r>
          </a:p>
          <a:p>
            <a:r>
              <a:rPr lang="en-GB" dirty="0"/>
              <a:t>Tuneable consistency</a:t>
            </a:r>
          </a:p>
          <a:p>
            <a:pPr lvl="1"/>
            <a:r>
              <a:rPr lang="en-GB" dirty="0"/>
              <a:t>number of nodes required to respond to change can be modified</a:t>
            </a:r>
          </a:p>
          <a:p>
            <a:r>
              <a:rPr lang="en-GB" dirty="0"/>
              <a:t>Optimized hard disc access</a:t>
            </a:r>
          </a:p>
          <a:p>
            <a:pPr lvl="1"/>
            <a:r>
              <a:rPr lang="en-GB" dirty="0"/>
              <a:t>Avoids overwrites, so allowing sequential I/O</a:t>
            </a:r>
          </a:p>
          <a:p>
            <a:r>
              <a:rPr lang="en-GB" dirty="0"/>
              <a:t>Supports Java, Python, Go, C++, …</a:t>
            </a:r>
          </a:p>
          <a:p>
            <a:r>
              <a:rPr lang="en-GB" dirty="0"/>
              <a:t>Hadoop integration, so supports MapReduce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24</a:t>
            </a:fld>
            <a:endParaRPr lang="en-GB"/>
          </a:p>
        </p:txBody>
      </p:sp>
      <p:pic>
        <p:nvPicPr>
          <p:cNvPr id="5" name="Picture 2" descr="Cassandra">
            <a:extLst>
              <a:ext uri="{FF2B5EF4-FFF2-40B4-BE49-F238E27FC236}">
                <a16:creationId xmlns:a16="http://schemas.microsoft.com/office/drawing/2014/main" id="{3EA9E950-91A9-6943-90DE-8C5D2F763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3078" y="192386"/>
            <a:ext cx="1856442" cy="1225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47738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Cassandra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2476872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Cassandra usually runs over a cluster of machines</a:t>
            </a:r>
          </a:p>
          <a:p>
            <a:pPr lvl="1"/>
            <a:r>
              <a:rPr lang="en-GB" dirty="0"/>
              <a:t>A cluster is a container for a single </a:t>
            </a:r>
            <a:r>
              <a:rPr lang="en-GB" b="1" dirty="0"/>
              <a:t>keyspace</a:t>
            </a:r>
          </a:p>
          <a:p>
            <a:pPr lvl="1"/>
            <a:r>
              <a:rPr lang="en-GB" dirty="0"/>
              <a:t>A keyspace is the outermost container for data</a:t>
            </a:r>
          </a:p>
          <a:p>
            <a:r>
              <a:rPr lang="en-GB" dirty="0"/>
              <a:t>Keyspace attributes</a:t>
            </a:r>
          </a:p>
          <a:p>
            <a:pPr lvl="1"/>
            <a:r>
              <a:rPr lang="en-GB" dirty="0"/>
              <a:t>Replication factor</a:t>
            </a:r>
          </a:p>
          <a:p>
            <a:pPr lvl="2"/>
            <a:r>
              <a:rPr lang="en-GB" dirty="0"/>
              <a:t>Number of nodes storing the same row</a:t>
            </a:r>
          </a:p>
          <a:p>
            <a:r>
              <a:rPr lang="en-GB" dirty="0"/>
              <a:t>The keyspace contains the </a:t>
            </a:r>
            <a:r>
              <a:rPr lang="en-GB" b="1" dirty="0"/>
              <a:t>column families </a:t>
            </a:r>
            <a:r>
              <a:rPr lang="en-GB" dirty="0"/>
              <a:t>(similar to tables)</a:t>
            </a:r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25</a:t>
            </a:fld>
            <a:endParaRPr lang="en-GB"/>
          </a:p>
        </p:txBody>
      </p:sp>
      <p:pic>
        <p:nvPicPr>
          <p:cNvPr id="5" name="Picture 2" descr="Cassandra">
            <a:extLst>
              <a:ext uri="{FF2B5EF4-FFF2-40B4-BE49-F238E27FC236}">
                <a16:creationId xmlns:a16="http://schemas.microsoft.com/office/drawing/2014/main" id="{83D3C9CB-8DA3-B94A-A07D-5EBADB15A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3078" y="192386"/>
            <a:ext cx="1856442" cy="1225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7B3DEF7-0F5B-7844-B40D-7A743295A632}"/>
              </a:ext>
            </a:extLst>
          </p:cNvPr>
          <p:cNvSpPr/>
          <p:nvPr/>
        </p:nvSpPr>
        <p:spPr>
          <a:xfrm>
            <a:off x="1259632" y="4365104"/>
            <a:ext cx="6264696" cy="19912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C112C8-7CB8-8942-A813-080C7C47BB26}"/>
              </a:ext>
            </a:extLst>
          </p:cNvPr>
          <p:cNvSpPr txBox="1"/>
          <p:nvPr/>
        </p:nvSpPr>
        <p:spPr>
          <a:xfrm>
            <a:off x="1293592" y="4365104"/>
            <a:ext cx="1068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Keyspace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0852A8-DE02-BE46-A38F-B1175E4728D0}"/>
              </a:ext>
            </a:extLst>
          </p:cNvPr>
          <p:cNvSpPr/>
          <p:nvPr/>
        </p:nvSpPr>
        <p:spPr>
          <a:xfrm>
            <a:off x="1907704" y="4734436"/>
            <a:ext cx="2160240" cy="1502876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AB43A5-C517-ED41-861E-19FC31C06DF9}"/>
              </a:ext>
            </a:extLst>
          </p:cNvPr>
          <p:cNvSpPr txBox="1"/>
          <p:nvPr/>
        </p:nvSpPr>
        <p:spPr>
          <a:xfrm>
            <a:off x="1940552" y="4766202"/>
            <a:ext cx="1765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Column Family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484938-7C02-164A-A9B2-B97D056261FD}"/>
              </a:ext>
            </a:extLst>
          </p:cNvPr>
          <p:cNvSpPr/>
          <p:nvPr/>
        </p:nvSpPr>
        <p:spPr>
          <a:xfrm>
            <a:off x="1293592" y="6453336"/>
            <a:ext cx="1550216" cy="26813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Machine 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CCB199-7BFD-984C-85BF-CB68E515C543}"/>
              </a:ext>
            </a:extLst>
          </p:cNvPr>
          <p:cNvSpPr/>
          <p:nvPr/>
        </p:nvSpPr>
        <p:spPr>
          <a:xfrm>
            <a:off x="2923057" y="6449292"/>
            <a:ext cx="1550216" cy="26813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Machine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943487-FDD0-2C45-86C5-70B704EDB3A7}"/>
              </a:ext>
            </a:extLst>
          </p:cNvPr>
          <p:cNvSpPr/>
          <p:nvPr/>
        </p:nvSpPr>
        <p:spPr>
          <a:xfrm>
            <a:off x="5974112" y="6449292"/>
            <a:ext cx="1550216" cy="26813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Machine 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761BD2-15FD-9043-B10D-306916284558}"/>
              </a:ext>
            </a:extLst>
          </p:cNvPr>
          <p:cNvSpPr/>
          <p:nvPr/>
        </p:nvSpPr>
        <p:spPr>
          <a:xfrm>
            <a:off x="4423896" y="6461226"/>
            <a:ext cx="1550216" cy="2681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39D94B-CB2C-DD44-B8D8-BB72D3E14480}"/>
              </a:ext>
            </a:extLst>
          </p:cNvPr>
          <p:cNvSpPr/>
          <p:nvPr/>
        </p:nvSpPr>
        <p:spPr>
          <a:xfrm>
            <a:off x="4283968" y="4734436"/>
            <a:ext cx="2160240" cy="1502876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0B069A-5279-294A-8882-8F16B127ADE2}"/>
              </a:ext>
            </a:extLst>
          </p:cNvPr>
          <p:cNvSpPr txBox="1"/>
          <p:nvPr/>
        </p:nvSpPr>
        <p:spPr>
          <a:xfrm>
            <a:off x="4316816" y="4766202"/>
            <a:ext cx="1765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Column Family 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1BBD05-E931-BF4A-91F2-7181B26AAF7B}"/>
              </a:ext>
            </a:extLst>
          </p:cNvPr>
          <p:cNvSpPr/>
          <p:nvPr/>
        </p:nvSpPr>
        <p:spPr>
          <a:xfrm>
            <a:off x="6113779" y="5257800"/>
            <a:ext cx="1550216" cy="2681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073307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Cassandra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/>
          </a:bodyPr>
          <a:lstStyle/>
          <a:p>
            <a:r>
              <a:rPr lang="en-GB" dirty="0"/>
              <a:t>Column family is similar to a relational table, but with some differences</a:t>
            </a:r>
          </a:p>
          <a:p>
            <a:pPr lvl="1"/>
            <a:r>
              <a:rPr lang="en-GB" dirty="0"/>
              <a:t>Columns do not have to be defined by a schema</a:t>
            </a:r>
          </a:p>
          <a:p>
            <a:pPr lvl="2"/>
            <a:r>
              <a:rPr lang="en-GB" dirty="0"/>
              <a:t>Schema can be explicit or implicit</a:t>
            </a:r>
          </a:p>
          <a:p>
            <a:pPr lvl="1"/>
            <a:r>
              <a:rPr lang="en-GB" dirty="0"/>
              <a:t>Columns can be added or removed as required</a:t>
            </a:r>
          </a:p>
          <a:p>
            <a:pPr lvl="2"/>
            <a:r>
              <a:rPr lang="en-GB" dirty="0"/>
              <a:t>Rows do not need to have all columns</a:t>
            </a:r>
          </a:p>
          <a:p>
            <a:pPr lvl="1"/>
            <a:r>
              <a:rPr lang="en-GB" dirty="0"/>
              <a:t>Each column family is sorted on one column</a:t>
            </a:r>
          </a:p>
          <a:p>
            <a:pPr lvl="1"/>
            <a:r>
              <a:rPr lang="en-GB" dirty="0"/>
              <a:t>Column families can contain other column families</a:t>
            </a:r>
          </a:p>
          <a:p>
            <a:pPr lvl="2"/>
            <a:r>
              <a:rPr lang="en-GB" dirty="0"/>
              <a:t>This is nesting, so “tables” can contain “tables”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26</a:t>
            </a:fld>
            <a:endParaRPr lang="en-GB"/>
          </a:p>
        </p:txBody>
      </p:sp>
      <p:pic>
        <p:nvPicPr>
          <p:cNvPr id="5" name="Picture 2" descr="Cassandra">
            <a:extLst>
              <a:ext uri="{FF2B5EF4-FFF2-40B4-BE49-F238E27FC236}">
                <a16:creationId xmlns:a16="http://schemas.microsoft.com/office/drawing/2014/main" id="{83D3C9CB-8DA3-B94A-A07D-5EBADB15A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3078" y="192386"/>
            <a:ext cx="1856442" cy="1225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36190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image">
            <a:extLst>
              <a:ext uri="{FF2B5EF4-FFF2-40B4-BE49-F238E27FC236}">
                <a16:creationId xmlns:a16="http://schemas.microsoft.com/office/drawing/2014/main" id="{42DC5E83-DB8F-FD40-BA50-9A561B0B2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109" y="1268760"/>
            <a:ext cx="7180190" cy="3558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60892A-72E4-9447-8E20-D0BAEC9DE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Cassandra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64520-9481-174D-88BF-88CA18867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804" y="5012558"/>
            <a:ext cx="8686800" cy="1512786"/>
          </a:xfrm>
        </p:spPr>
        <p:txBody>
          <a:bodyPr>
            <a:noAutofit/>
          </a:bodyPr>
          <a:lstStyle/>
          <a:p>
            <a:r>
              <a:rPr lang="en-US" sz="2400" dirty="0"/>
              <a:t>Data often stored in denormalized form, i.e. with redundancy</a:t>
            </a:r>
          </a:p>
          <a:p>
            <a:r>
              <a:rPr lang="en-US" sz="2400" dirty="0"/>
              <a:t>Most accesses read or add data, virtually no updates/modification</a:t>
            </a:r>
          </a:p>
          <a:p>
            <a:r>
              <a:rPr lang="en-US" sz="2400" dirty="0"/>
              <a:t>No joins: must retrieve guest details manually in application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21601-8B43-7445-939F-225B60AF1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27</a:t>
            </a:fld>
            <a:endParaRPr lang="en-GB"/>
          </a:p>
        </p:txBody>
      </p:sp>
      <p:pic>
        <p:nvPicPr>
          <p:cNvPr id="5" name="Picture 2" descr="Cassandra">
            <a:extLst>
              <a:ext uri="{FF2B5EF4-FFF2-40B4-BE49-F238E27FC236}">
                <a16:creationId xmlns:a16="http://schemas.microsoft.com/office/drawing/2014/main" id="{EAE53018-F7DD-B346-BB8D-187AFCF7C1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3078" y="192386"/>
            <a:ext cx="1856442" cy="1225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9E98465-AC7C-BD43-BF15-3A3F0467B882}"/>
              </a:ext>
            </a:extLst>
          </p:cNvPr>
          <p:cNvSpPr/>
          <p:nvPr/>
        </p:nvSpPr>
        <p:spPr>
          <a:xfrm>
            <a:off x="490736" y="6538912"/>
            <a:ext cx="73216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</a:t>
            </a:r>
            <a:r>
              <a:rPr lang="en-US" sz="1400" dirty="0" err="1"/>
              <a:t>cassandra.apache.org</a:t>
            </a:r>
            <a:r>
              <a:rPr lang="en-US" sz="1400" dirty="0"/>
              <a:t>/doc/latest/</a:t>
            </a:r>
            <a:r>
              <a:rPr lang="en-US" sz="1400" dirty="0" err="1"/>
              <a:t>cassandra</a:t>
            </a:r>
            <a:r>
              <a:rPr lang="en-US" sz="1400" dirty="0"/>
              <a:t>/</a:t>
            </a:r>
            <a:r>
              <a:rPr lang="en-US" sz="1400" dirty="0" err="1"/>
              <a:t>data_modeling</a:t>
            </a:r>
            <a:r>
              <a:rPr lang="en-US" sz="1400" dirty="0"/>
              <a:t>/</a:t>
            </a:r>
            <a:r>
              <a:rPr lang="en-US" sz="1400" dirty="0" err="1"/>
              <a:t>data_modeling_logical.html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845911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0000"/>
                </a:solidFill>
              </a:rPr>
              <a:t>Quick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2600" b="1" dirty="0">
                <a:solidFill>
                  <a:srgbClr val="0070C0"/>
                </a:solidFill>
              </a:rPr>
              <a:t>Is Cassandra an appropriate storage engine for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600" b="1" dirty="0">
                <a:solidFill>
                  <a:srgbClr val="0070C0"/>
                </a:solidFill>
              </a:rPr>
              <a:t>a small stand-alone employee database, where the server is not network connected to ensure security?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035FA9-C548-4281-85DD-169A40E66F3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0EBB96-8667-6541-B4B4-706EED8BD845}"/>
              </a:ext>
            </a:extLst>
          </p:cNvPr>
          <p:cNvSpPr txBox="1"/>
          <p:nvPr/>
        </p:nvSpPr>
        <p:spPr>
          <a:xfrm>
            <a:off x="539551" y="3968834"/>
            <a:ext cx="79208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Answer: No.</a:t>
            </a:r>
            <a:r>
              <a:rPr kumimoji="0" lang="en-US" sz="30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Small amount of structured data,</a:t>
            </a:r>
            <a:br>
              <a:rPr kumimoji="0" lang="en-US" sz="30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30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relational DB will do a fine job.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9104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0000"/>
                </a:solidFill>
              </a:rPr>
              <a:t>Quick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2600" b="1" dirty="0">
                <a:solidFill>
                  <a:srgbClr val="0070C0"/>
                </a:solidFill>
              </a:rPr>
              <a:t>Is Cassandra an appropriate storage engine for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600" b="1" dirty="0">
                <a:solidFill>
                  <a:srgbClr val="0070C0"/>
                </a:solidFill>
              </a:rPr>
              <a:t>a fitness app, with many users and support for various sports, for which a wide range of different measures may be tracked.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035FA9-C548-4281-85DD-169A40E66F3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0EBB96-8667-6541-B4B4-706EED8BD845}"/>
              </a:ext>
            </a:extLst>
          </p:cNvPr>
          <p:cNvSpPr txBox="1"/>
          <p:nvPr/>
        </p:nvSpPr>
        <p:spPr>
          <a:xfrm>
            <a:off x="467544" y="3968834"/>
            <a:ext cx="82296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Answer: Yes. </a:t>
            </a:r>
            <a:r>
              <a:rPr lang="en-GB" sz="2400" b="1" dirty="0">
                <a:solidFill>
                  <a:srgbClr val="FF0000"/>
                </a:solidFill>
              </a:rPr>
              <a:t>Cassandra could be a good choice, especially with its implicit schema approach, column families, and optional column support.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490302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853135C-3483-1747-9F41-16C2D3AF4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 Up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45CC2D-362E-E140-9998-3A15FEC33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CD1823-2B86-3B41-ADEA-156777DAF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78538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 err="1"/>
              <a:t>noSQL</a:t>
            </a:r>
            <a:r>
              <a:rPr lang="en-GB" dirty="0"/>
              <a:t>: not only SQL</a:t>
            </a:r>
          </a:p>
          <a:p>
            <a:r>
              <a:rPr lang="en-GB" dirty="0" err="1"/>
              <a:t>noSQL</a:t>
            </a:r>
            <a:r>
              <a:rPr lang="en-GB" dirty="0"/>
              <a:t> increases redundancy to enable horizontal scaling</a:t>
            </a:r>
          </a:p>
          <a:p>
            <a:pPr lvl="1"/>
            <a:r>
              <a:rPr lang="en-GB" dirty="0"/>
              <a:t>Distributed over multiple machines for performance</a:t>
            </a:r>
          </a:p>
          <a:p>
            <a:pPr lvl="1"/>
            <a:r>
              <a:rPr lang="en-GB" dirty="0"/>
              <a:t>Trades performance for possible increase inconsistencies</a:t>
            </a:r>
          </a:p>
          <a:p>
            <a:pPr lvl="1"/>
            <a:r>
              <a:rPr lang="en-GB" dirty="0"/>
              <a:t>Generally, they reduce structure, leaving decisions about redundancy and consistency down to the database designer/implementer</a:t>
            </a:r>
          </a:p>
          <a:p>
            <a:r>
              <a:rPr lang="en-GB" dirty="0"/>
              <a:t>SQL installations remain the predominant database</a:t>
            </a:r>
          </a:p>
          <a:p>
            <a:r>
              <a:rPr lang="en-GB" dirty="0"/>
              <a:t>There are different noSQL architectures</a:t>
            </a:r>
          </a:p>
          <a:p>
            <a:pPr lvl="1"/>
            <a:r>
              <a:rPr lang="en-GB" dirty="0"/>
              <a:t>All with their pros and cons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C01A-3D8D-4949-8142-6DB3609FD27E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3004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1614</Words>
  <Application>Microsoft Office PowerPoint</Application>
  <PresentationFormat>On-screen Show (4:3)</PresentationFormat>
  <Paragraphs>263</Paragraphs>
  <Slides>31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Courier New</vt:lpstr>
      <vt:lpstr>Consolas</vt:lpstr>
      <vt:lpstr>Arial</vt:lpstr>
      <vt:lpstr>Calibri</vt:lpstr>
      <vt:lpstr>Office Theme</vt:lpstr>
      <vt:lpstr>1_Office Theme</vt:lpstr>
      <vt:lpstr>noSQL 1</vt:lpstr>
      <vt:lpstr>Lecture Outline</vt:lpstr>
      <vt:lpstr>Limitations of Relational Databases</vt:lpstr>
      <vt:lpstr>What is noSQL?</vt:lpstr>
      <vt:lpstr>Types of noSQL</vt:lpstr>
      <vt:lpstr>Why noSQL?</vt:lpstr>
      <vt:lpstr>DB Engines March 2025</vt:lpstr>
      <vt:lpstr>Relational Databases and SQL are not always the best choice (1/2)</vt:lpstr>
      <vt:lpstr>Relational Databases and SQL are not always the best choice (2/2)</vt:lpstr>
      <vt:lpstr>Key-Value Stores</vt:lpstr>
      <vt:lpstr>Key-Value Stores</vt:lpstr>
      <vt:lpstr>Example: Redis</vt:lpstr>
      <vt:lpstr>Example: Redis</vt:lpstr>
      <vt:lpstr>Example: Redis</vt:lpstr>
      <vt:lpstr>Redis Operations</vt:lpstr>
      <vt:lpstr>Redis Atomic Operations</vt:lpstr>
      <vt:lpstr>Datasets with Redis</vt:lpstr>
      <vt:lpstr>Datasets with Redis</vt:lpstr>
      <vt:lpstr>Quick Exercise</vt:lpstr>
      <vt:lpstr>Wide Column Stores</vt:lpstr>
      <vt:lpstr>Wide Column Stores (1)</vt:lpstr>
      <vt:lpstr>Wide Column Stores (2)</vt:lpstr>
      <vt:lpstr>Cassandra Overview</vt:lpstr>
      <vt:lpstr>Cassandra Overview</vt:lpstr>
      <vt:lpstr>Cassandra Architecture</vt:lpstr>
      <vt:lpstr>Cassandra Architecture</vt:lpstr>
      <vt:lpstr>Cassandra Example</vt:lpstr>
      <vt:lpstr>Quick Quiz</vt:lpstr>
      <vt:lpstr>Quick Quiz</vt:lpstr>
      <vt:lpstr>Wrap Up</vt:lpstr>
      <vt:lpstr>Summary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CO532 – Database systems  Lecture 14 Reliability and recovery</dc:title>
  <dc:creator>Peter Rodgers</dc:creator>
  <cp:lastModifiedBy>Peter Rodgers</cp:lastModifiedBy>
  <cp:revision>146</cp:revision>
  <cp:lastPrinted>2016-03-29T09:25:21Z</cp:lastPrinted>
  <dcterms:created xsi:type="dcterms:W3CDTF">2014-03-07T13:04:53Z</dcterms:created>
  <dcterms:modified xsi:type="dcterms:W3CDTF">2025-11-24T10:26:55Z</dcterms:modified>
</cp:coreProperties>
</file>