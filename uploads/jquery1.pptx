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267" r:id="rId5"/>
    <p:sldId id="268" r:id="rId6"/>
    <p:sldId id="269" r:id="rId7"/>
    <p:sldId id="270" r:id="rId8"/>
    <p:sldId id="271" r:id="rId9"/>
    <p:sldId id="273" r:id="rId10"/>
    <p:sldId id="274" r:id="rId11"/>
    <p:sldId id="275" r:id="rId12"/>
    <p:sldId id="27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099" autoAdjust="0"/>
  </p:normalViewPr>
  <p:slideViewPr>
    <p:cSldViewPr snapToGrid="0">
      <p:cViewPr varScale="1">
        <p:scale>
          <a:sx n="58" d="100"/>
          <a:sy n="58" d="100"/>
        </p:scale>
        <p:origin x="102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B627A-5CB7-493A-8193-477280DFF97E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87418-57D9-4461-ABD2-3C590664E4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722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9BCF6-156F-3D37-3939-F63BAE8AE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086464-AAC9-995B-E93C-E705C5B7D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206D3-953F-AF78-CB78-D066058A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E6EC-0941-4BF4-A0EC-E81E660D293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F1C10-449B-98D4-3665-14BA7AA9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745D1-35EA-5452-98BA-EE8C43ED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46D7-14B9-4ADA-9119-1EDFAFD9B0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675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FC894-FC44-54C1-43EF-38B200D4E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3C29A-5540-8FCD-F580-9D1A1C55F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97FB1-2047-3936-85A0-B05AF0AD3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E6EC-0941-4BF4-A0EC-E81E660D293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30395-8FA0-23C1-70E7-1D9E2A000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C5EBA-1632-565C-E902-EC0F0CCFB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46D7-14B9-4ADA-9119-1EDFAFD9B0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8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811A-B976-EF87-1546-AEE0C0CDE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0E067-C6E9-3BE5-C392-056FB51B2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964AE-9E99-D105-53B7-58E65349A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E6EC-0941-4BF4-A0EC-E81E660D293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F7972-067E-11E7-B198-D4D7ECFA7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2E7E3-4181-A944-A6F8-C76A6F34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46D7-14B9-4ADA-9119-1EDFAFD9B0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26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A6585-68C9-6511-630C-13C940A18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C1D24-34AA-61B5-E133-F5DC640DCD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9BBE6-83EC-04DF-151D-71A34DD40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6A48C-FEB9-8FAE-FB26-480A02C7E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E6EC-0941-4BF4-A0EC-E81E660D293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92CFE-010B-A4EA-93DC-39FFEB103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765BF-AA20-36DF-EA16-E5BDF5AB6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46D7-14B9-4ADA-9119-1EDFAFD9B0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652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AA1CF-13E3-6D9F-2FCB-229968AC4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B7A20-0FE4-C9D7-D23E-84CB2A8C8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651C8-19B4-75FF-C81E-4B8300EC1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584BE-54A6-55A1-4A22-D4E91A72FF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8D51AC-A915-97E1-4A4D-B1143460B4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A52598-41A8-7066-0AE6-6E49EF153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E6EC-0941-4BF4-A0EC-E81E660D293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1DB58-79DF-60DD-986F-3FA8C1686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C0CEEF-D4B6-E943-DD48-FDD1EE70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46D7-14B9-4ADA-9119-1EDFAFD9B0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342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67297-98CF-8228-3785-D3941372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640538-408D-A2EF-42D7-B460E667E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E6EC-0941-4BF4-A0EC-E81E660D293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009619-B661-A91F-3D77-23D012469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E6CCC-7E66-9D5F-A292-CF3D714B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46D7-14B9-4ADA-9119-1EDFAFD9B0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785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42F48C-339F-59D4-4137-9E748B8FC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E6EC-0941-4BF4-A0EC-E81E660D293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792043-7996-0E86-2988-30A8A7626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5BFE2-081C-8C37-B1DD-4D8295A20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46D7-14B9-4ADA-9119-1EDFAFD9B0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707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5310F-612A-9973-830B-54CA0455A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B570F-FB50-D2BF-15AD-EA67CDC53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7CB45-F7C1-D353-9BC8-5BD89E35E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F4640-2EEB-2C5D-2022-6C3E3C149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E6EC-0941-4BF4-A0EC-E81E660D293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BD6D7-6B13-6596-8EB3-91A1A62B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3335D-B701-A21A-153C-8F1CE6244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46D7-14B9-4ADA-9119-1EDFAFD9B0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505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24254-D936-D983-76C9-1628A151E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ADDA3B-0010-05CB-CD29-4F3F87260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FD751-690D-1326-C767-412EDDDAB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90D75-CD8B-8719-F05C-9DD627E8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E6EC-0941-4BF4-A0EC-E81E660D293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5F7AB-DA16-C073-AD2A-E02A9C75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59163-34D2-3832-D796-8133E013B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46D7-14B9-4ADA-9119-1EDFAFD9B0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30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8D737-A4E6-9C4E-AEA3-87700A0E4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BBFC1-B49E-5C23-C684-A48C83350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C1E13-2DD0-0520-FA40-BA354D639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E6EC-0941-4BF4-A0EC-E81E660D293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A26D8-E68E-C7FB-E45A-9D3B4DF00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1EBC-BFEA-3629-DA3E-2AE3F3FB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46D7-14B9-4ADA-9119-1EDFAFD9B0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14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C0D055-8323-6092-FE07-D9A5FE937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CA0D8-C22E-B5C6-97E0-AF9F9EC3D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3D379-DF1B-5C27-C473-FE1A83599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E6EC-0941-4BF4-A0EC-E81E660D293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17E34-1046-0171-9F68-4AD0C369E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B4563-A509-C6B9-69CD-5E3A9CD2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B46D7-14B9-4ADA-9119-1EDFAFD9B0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732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BED584-7910-93FB-65A7-5C3124516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4C96F-32EC-0D13-9A73-D1E5F4A4C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15697-81E2-E4EF-43FD-AD8610D937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DE6EC-0941-4BF4-A0EC-E81E660D2939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6B9F5-2FB6-4726-934D-EB7BF24DB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77ADE-F8A9-3809-0D69-854047171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AB46D7-14B9-4ADA-9119-1EDFAFD9B0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566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p.j.rodgers@kent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jquery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jquery.com/jquery-4.0.0.j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C9E6-3E55-DA71-D0BF-E491256C17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COMP5008</a:t>
            </a:r>
            <a:br>
              <a:rPr lang="en-GB" dirty="0"/>
            </a:br>
            <a:r>
              <a:rPr lang="en-GB" dirty="0"/>
              <a:t>jQuery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F27DE1-0A43-3F70-7503-21A0771882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Peter Rodgers</a:t>
            </a:r>
          </a:p>
          <a:p>
            <a:r>
              <a:rPr lang="en-GB" dirty="0">
                <a:hlinkClick r:id="rId2"/>
              </a:rPr>
              <a:t>p.j.rodgers@kent.ac.uk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8372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1927E-B719-E8AA-254F-BA7C66ACD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939"/>
            <a:ext cx="10515600" cy="1325563"/>
          </a:xfrm>
        </p:spPr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8E68-05A9-85CD-5973-71D148395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1262"/>
            <a:ext cx="10515600" cy="527538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/>
              <a:t>jQuery outline</a:t>
            </a:r>
          </a:p>
          <a:p>
            <a:pPr>
              <a:lnSpc>
                <a:spcPct val="110000"/>
              </a:lnSpc>
            </a:pPr>
            <a:r>
              <a:rPr lang="en-GB" dirty="0"/>
              <a:t>jQuery event handling</a:t>
            </a:r>
          </a:p>
          <a:p>
            <a:pPr>
              <a:lnSpc>
                <a:spcPct val="110000"/>
              </a:lnSpc>
            </a:pPr>
            <a:r>
              <a:rPr lang="en-GB" dirty="0"/>
              <a:t>jQuery DOM element selection and traversal</a:t>
            </a:r>
          </a:p>
          <a:p>
            <a:pPr>
              <a:lnSpc>
                <a:spcPct val="110000"/>
              </a:lnSpc>
            </a:pPr>
            <a:r>
              <a:rPr lang="en-GB" dirty="0"/>
              <a:t>jQuery callbacks</a:t>
            </a:r>
          </a:p>
          <a:p>
            <a:pPr>
              <a:lnSpc>
                <a:spcPct val="110000"/>
              </a:lnSpc>
            </a:pPr>
            <a:endParaRPr lang="en-GB" dirty="0"/>
          </a:p>
          <a:p>
            <a:pPr>
              <a:lnSpc>
                <a:spcPct val="11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0750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DCE07-4B73-DF0C-954A-C103CF9C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jQuery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333EC-5750-861A-1F50-D227283FF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jQuery is a JavaScript library</a:t>
            </a:r>
          </a:p>
          <a:p>
            <a:r>
              <a:rPr lang="en-GB" dirty="0"/>
              <a:t>Around 78% of top web sites use it</a:t>
            </a:r>
          </a:p>
          <a:p>
            <a:r>
              <a:rPr lang="en-GB" dirty="0"/>
              <a:t>It provides a way of selecting and interacting with html elements</a:t>
            </a:r>
          </a:p>
          <a:p>
            <a:pPr lvl="1"/>
            <a:r>
              <a:rPr lang="en-GB" dirty="0"/>
              <a:t>jQuery makes it easier to write interactive JavaScript</a:t>
            </a:r>
          </a:p>
          <a:p>
            <a:r>
              <a:rPr lang="en-GB" dirty="0"/>
              <a:t>Open source, GitHub repository</a:t>
            </a:r>
          </a:p>
          <a:p>
            <a:pPr lvl="1"/>
            <a:r>
              <a:rPr lang="en-GB" dirty="0"/>
              <a:t>jQuery 4.0.0 is the latest production version</a:t>
            </a:r>
          </a:p>
          <a:p>
            <a:pPr marL="0" indent="0">
              <a:buNone/>
            </a:pPr>
            <a:r>
              <a:rPr lang="en-GB" dirty="0">
                <a:hlinkClick r:id="rId2"/>
              </a:rPr>
              <a:t>https://jquery.com/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9430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A52FF-6C82-4AAB-9991-A35E517C5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jQuery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A3F79-C784-B12C-0512-21836C3A5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Access an online version using the </a:t>
            </a:r>
            <a:r>
              <a:rPr lang="en-GB" dirty="0" err="1"/>
              <a:t>src</a:t>
            </a:r>
            <a:r>
              <a:rPr lang="en-GB" dirty="0"/>
              <a:t> attribute of script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&lt;script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="https://cs.kent.ac.uk/~pjr/jquery-4.0.0.js"&gt;&lt;/script&gt;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pPr>
              <a:lnSpc>
                <a:spcPct val="120000"/>
              </a:lnSpc>
            </a:pPr>
            <a:r>
              <a:rPr lang="en-GB" dirty="0"/>
              <a:t>You can download the single </a:t>
            </a:r>
            <a:r>
              <a:rPr lang="en-GB" dirty="0" err="1"/>
              <a:t>js</a:t>
            </a:r>
            <a:r>
              <a:rPr lang="en-GB" dirty="0"/>
              <a:t> file and use that as the </a:t>
            </a:r>
            <a:r>
              <a:rPr lang="en-GB" dirty="0" err="1"/>
              <a:t>src</a:t>
            </a: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dirty="0">
                <a:hlinkClick r:id="rId2"/>
              </a:rPr>
              <a:t>https://code.jquery.com/jquery-4.0.0.js</a:t>
            </a:r>
            <a:endParaRPr lang="en-GB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&lt;script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="jquery-4.0.0.js"&gt;&lt;/script&gt;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pPr>
              <a:lnSpc>
                <a:spcPct val="120000"/>
              </a:lnSpc>
            </a:pPr>
            <a:r>
              <a:rPr lang="en-GB" dirty="0"/>
              <a:t>If 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script</a:t>
            </a:r>
            <a:r>
              <a:rPr lang="en-GB" dirty="0"/>
              <a:t> element has a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GB" dirty="0"/>
              <a:t> attribute, it needs to be empty</a:t>
            </a:r>
          </a:p>
          <a:p>
            <a:pPr>
              <a:lnSpc>
                <a:spcPct val="120000"/>
              </a:lnSpc>
            </a:pPr>
            <a:r>
              <a:rPr lang="en-GB" dirty="0"/>
              <a:t>Hence, we will place our jQuery code in a second script element in head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Some recommend placing the jQuery code at the bottom of the page to speed up DOM element rendering.</a:t>
            </a:r>
          </a:p>
          <a:p>
            <a:pPr lvl="1">
              <a:lnSpc>
                <a:spcPct val="12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3214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041DB-46CE-4D49-8059-EB9ABD0C0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jQuery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0FFE1-5240-19EA-47AB-99D22A899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The basic jQuery form is: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$(selector).action()</a:t>
            </a:r>
          </a:p>
          <a:p>
            <a:pPr>
              <a:lnSpc>
                <a:spcPct val="1200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selector</a:t>
            </a:r>
            <a:r>
              <a:rPr lang="en-GB" dirty="0"/>
              <a:t> is the CSS selectors: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"element"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".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"#id"</a:t>
            </a:r>
          </a:p>
          <a:p>
            <a:pPr lvl="1">
              <a:lnSpc>
                <a:spcPct val="120000"/>
              </a:lnSpc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GB" dirty="0"/>
              <a:t> – the current element (for example, the element currently being clicked on)</a:t>
            </a:r>
          </a:p>
          <a:p>
            <a:pPr>
              <a:lnSpc>
                <a:spcPct val="120000"/>
              </a:lnSpc>
            </a:pPr>
            <a:r>
              <a:rPr lang="en-GB" dirty="0"/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action</a:t>
            </a:r>
            <a:r>
              <a:rPr lang="en-GB" dirty="0">
                <a:cs typeface="Courier New" panose="02070309020205020404" pitchFamily="49" charset="0"/>
              </a:rPr>
              <a:t> </a:t>
            </a:r>
            <a:r>
              <a:rPr lang="en-GB" dirty="0"/>
              <a:t>is often an anonymous function as shown on the next slide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You can access an event parameter passed to the function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900" dirty="0"/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782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EC10D-D482-7739-7FC6-E235FAEE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Document Ready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C2648-691E-24B1-2947-72629A5AE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We will wrap all our jQuery code inside a document ready event:</a:t>
            </a:r>
          </a:p>
          <a:p>
            <a:pPr>
              <a:lnSpc>
                <a:spcPct val="120000"/>
              </a:lnSpc>
            </a:pPr>
            <a:r>
              <a:rPr lang="en-GB" dirty="0"/>
              <a:t>This waits for the document to be fully loaded before executing the jQuery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So that all the DOM is selectable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$(function()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// Code here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</a:p>
          <a:p>
            <a:pPr marL="0" indent="0">
              <a:lnSpc>
                <a:spcPct val="120000"/>
              </a:lnSpc>
              <a:buNone/>
            </a:pPr>
            <a:endParaRPr lang="en-GB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GB" dirty="0"/>
              <a:t>This is shorthand for: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$(document).ready(function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// Code here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426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E618-DAFF-98D6-3389-A17959BD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125"/>
            <a:ext cx="10515600" cy="1325563"/>
          </a:xfrm>
        </p:spPr>
        <p:txBody>
          <a:bodyPr/>
          <a:lstStyle/>
          <a:p>
            <a:r>
              <a:rPr lang="en-GB" dirty="0"/>
              <a:t>Simple jQuery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F11C1-C1E0-8B48-A6F2-CE6EFA653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5800" y="3429000"/>
            <a:ext cx="4521200" cy="3106738"/>
          </a:xfrm>
        </p:spPr>
        <p:txBody>
          <a:bodyPr/>
          <a:lstStyle/>
          <a:p>
            <a:r>
              <a:rPr lang="en-GB" dirty="0"/>
              <a:t>Here we access the elements with class </a:t>
            </a:r>
            <a:r>
              <a:rPr lang="en-GB" dirty="0" err="1"/>
              <a:t>redPara</a:t>
            </a:r>
            <a:endParaRPr lang="en-GB" dirty="0"/>
          </a:p>
          <a:p>
            <a:r>
              <a:rPr lang="en-GB" dirty="0"/>
              <a:t>We use the </a:t>
            </a:r>
            <a:r>
              <a:rPr lang="en-GB" dirty="0" err="1"/>
              <a:t>css</a:t>
            </a:r>
            <a:r>
              <a:rPr lang="en-GB" dirty="0"/>
              <a:t> function of jQuery to change selected elements to 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DFC0E-DEB3-C418-2F97-AF666D6C9E82}"/>
              </a:ext>
            </a:extLst>
          </p:cNvPr>
          <p:cNvSpPr txBox="1"/>
          <p:nvPr/>
        </p:nvSpPr>
        <p:spPr>
          <a:xfrm>
            <a:off x="241300" y="1323638"/>
            <a:ext cx="94234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&lt;!</a:t>
            </a:r>
            <a:r>
              <a:rPr lang="en-GB" sz="1800" b="1" dirty="0">
                <a:solidFill>
                  <a:srgbClr val="0000DD"/>
                </a:solidFill>
                <a:effectLst/>
                <a:latin typeface="Courier New" panose="02070309020205020404" pitchFamily="49" charset="0"/>
              </a:rPr>
              <a:t>DOCTYPE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0000DD"/>
                </a:solidFill>
                <a:effectLst/>
                <a:latin typeface="Courier New" panose="02070309020205020404" pitchFamily="49" charset="0"/>
              </a:rPr>
              <a:t>html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&lt;html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lang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800" b="1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GB" sz="1800" b="1" dirty="0" err="1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en</a:t>
            </a:r>
            <a:r>
              <a:rPr lang="en-GB" sz="1800" b="1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&lt;head&gt;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 &lt;meta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charset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800" b="1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"UTF-8"</a:t>
            </a: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 &lt;title&gt;</a:t>
            </a:r>
            <a:r>
              <a:rPr lang="en-GB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jQuery Example</a:t>
            </a: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&lt;/title&gt;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 &lt;script </a:t>
            </a:r>
            <a:r>
              <a:rPr lang="en-GB" sz="18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src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800" b="1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"https://cs.kent.ac.uk/~pjr/jquery-4.0.0.js"</a:t>
            </a: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&gt;&lt;/script&gt;</a:t>
            </a:r>
          </a:p>
          <a:p>
            <a:pPr>
              <a:buNone/>
            </a:pPr>
            <a:r>
              <a:rPr lang="en-GB" dirty="0">
                <a:solidFill>
                  <a:srgbClr val="0000FF"/>
                </a:solidFill>
                <a:latin typeface="Courier New" panose="02070309020205020404" pitchFamily="49" charset="0"/>
              </a:rPr>
              <a:t> &lt;script&gt;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 $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document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</a:rPr>
              <a:t>).</a:t>
            </a: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ready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b="1" i="1" dirty="0">
                <a:solidFill>
                  <a:srgbClr val="000080"/>
                </a:solidFill>
                <a:latin typeface="Courier New" panose="02070309020205020404" pitchFamily="49" charset="0"/>
              </a:rPr>
              <a:t>function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</a:rPr>
              <a:t>() {</a:t>
            </a:r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latin typeface="Courier New" panose="02070309020205020404" pitchFamily="49" charset="0"/>
              </a:rPr>
              <a:t>    $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808080"/>
                </a:solidFill>
                <a:latin typeface="Courier New" panose="02070309020205020404" pitchFamily="49" charset="0"/>
              </a:rPr>
              <a:t>".</a:t>
            </a:r>
            <a:r>
              <a:rPr lang="en-GB" dirty="0" err="1">
                <a:solidFill>
                  <a:srgbClr val="808080"/>
                </a:solidFill>
                <a:latin typeface="Courier New" panose="02070309020205020404" pitchFamily="49" charset="0"/>
              </a:rPr>
              <a:t>redPara</a:t>
            </a:r>
            <a:r>
              <a:rPr lang="en-GB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</a:rPr>
              <a:t>).</a:t>
            </a:r>
            <a:r>
              <a:rPr lang="en-GB" dirty="0" err="1">
                <a:solidFill>
                  <a:srgbClr val="000000"/>
                </a:solidFill>
                <a:latin typeface="Courier New" panose="02070309020205020404" pitchFamily="49" charset="0"/>
              </a:rPr>
              <a:t>css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en-GB" dirty="0" err="1">
                <a:solidFill>
                  <a:srgbClr val="808080"/>
                </a:solidFill>
                <a:latin typeface="Courier New" panose="02070309020205020404" pitchFamily="49" charset="0"/>
              </a:rPr>
              <a:t>color</a:t>
            </a:r>
            <a:r>
              <a:rPr lang="en-GB" dirty="0">
                <a:solidFill>
                  <a:srgbClr val="808080"/>
                </a:solidFill>
                <a:latin typeface="Courier New" panose="02070309020205020404" pitchFamily="49" charset="0"/>
              </a:rPr>
              <a:t>"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GB" dirty="0">
                <a:solidFill>
                  <a:srgbClr val="808080"/>
                </a:solidFill>
                <a:latin typeface="Courier New" panose="02070309020205020404" pitchFamily="49" charset="0"/>
              </a:rPr>
              <a:t>"red"</a:t>
            </a: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GB" b="1" dirty="0">
                <a:solidFill>
                  <a:srgbClr val="000000"/>
                </a:solidFill>
                <a:latin typeface="Courier New" panose="02070309020205020404" pitchFamily="49" charset="0"/>
              </a:rPr>
              <a:t>  })</a:t>
            </a:r>
          </a:p>
          <a:p>
            <a:pPr>
              <a:buNone/>
            </a:pPr>
            <a:r>
              <a:rPr lang="en-GB" dirty="0">
                <a:solidFill>
                  <a:srgbClr val="0000FF"/>
                </a:solidFill>
                <a:latin typeface="Courier New" panose="02070309020205020404" pitchFamily="49" charset="0"/>
              </a:rPr>
              <a:t> &lt;/script&gt;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&lt;/head&gt;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&lt;body&gt;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  &lt;p&gt;</a:t>
            </a:r>
            <a:r>
              <a:rPr lang="en-GB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Paragraph 1</a:t>
            </a: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&lt;/p&gt;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  &lt;p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class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800" b="1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GB" sz="1800" b="1" dirty="0" err="1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redPara</a:t>
            </a:r>
            <a:r>
              <a:rPr lang="en-GB" sz="1800" b="1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Paragraph 2</a:t>
            </a: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&lt;/p&gt;</a:t>
            </a:r>
          </a:p>
          <a:p>
            <a:r>
              <a:rPr lang="en-GB" dirty="0">
                <a:solidFill>
                  <a:srgbClr val="0000FF"/>
                </a:solidFill>
                <a:latin typeface="Courier New" panose="02070309020205020404" pitchFamily="49" charset="0"/>
              </a:rPr>
              <a:t>&lt;/body&gt;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&lt;/html&gt;</a:t>
            </a:r>
            <a:r>
              <a:rPr lang="en-GB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94929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3DDD0-6C6F-5E02-ADDA-DC677074B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Event Handlers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F4362-ED3C-0EA9-B5DD-27232B7C9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Actions can be events that trigger a function</a:t>
            </a:r>
          </a:p>
          <a:p>
            <a:r>
              <a:rPr lang="en-GB" dirty="0"/>
              <a:t>Events include:</a:t>
            </a:r>
          </a:p>
          <a:p>
            <a:pPr lvl="1"/>
            <a:r>
              <a:rPr lang="en-GB" dirty="0"/>
              <a:t>Mouse: click/</a:t>
            </a:r>
            <a:r>
              <a:rPr lang="en-GB" dirty="0" err="1"/>
              <a:t>dblclick</a:t>
            </a:r>
            <a:r>
              <a:rPr lang="en-GB" dirty="0"/>
              <a:t>/</a:t>
            </a:r>
            <a:r>
              <a:rPr lang="en-GB" dirty="0" err="1"/>
              <a:t>mouseenter</a:t>
            </a:r>
            <a:r>
              <a:rPr lang="en-GB" dirty="0"/>
              <a:t>/</a:t>
            </a:r>
            <a:r>
              <a:rPr lang="en-GB" dirty="0" err="1"/>
              <a:t>mouseleave</a:t>
            </a:r>
            <a:r>
              <a:rPr lang="en-GB" dirty="0"/>
              <a:t>/mouseover</a:t>
            </a:r>
          </a:p>
          <a:p>
            <a:pPr lvl="1"/>
            <a:r>
              <a:rPr lang="en-GB" dirty="0"/>
              <a:t>Focus: blur (form loses focus), focus (gains focus)</a:t>
            </a:r>
          </a:p>
          <a:p>
            <a:pPr lvl="1"/>
            <a:r>
              <a:rPr lang="en-GB" dirty="0"/>
              <a:t>Keyboard: Keypress/</a:t>
            </a:r>
            <a:r>
              <a:rPr lang="en-GB" dirty="0" err="1"/>
              <a:t>keydown</a:t>
            </a:r>
            <a:r>
              <a:rPr lang="en-GB" dirty="0"/>
              <a:t>/</a:t>
            </a:r>
            <a:r>
              <a:rPr lang="en-GB" dirty="0" err="1"/>
              <a:t>keyup</a:t>
            </a:r>
            <a:endParaRPr lang="en-GB" dirty="0"/>
          </a:p>
          <a:p>
            <a:pPr lvl="2"/>
            <a:r>
              <a:rPr lang="en-GB" dirty="0"/>
              <a:t>You will need to access the event parameter of the function to test the key that was pressed</a:t>
            </a:r>
          </a:p>
          <a:p>
            <a:r>
              <a:rPr lang="en-GB" dirty="0"/>
              <a:t>On() attaches an event handler to elements</a:t>
            </a:r>
          </a:p>
          <a:p>
            <a:pPr lvl="1"/>
            <a:r>
              <a:rPr lang="en-GB" dirty="0"/>
              <a:t>Off() removes the handler</a:t>
            </a:r>
          </a:p>
          <a:p>
            <a:pPr lvl="1"/>
            <a:r>
              <a:rPr lang="en-GB" dirty="0"/>
              <a:t>Typically, use on rather than an event name function</a:t>
            </a:r>
          </a:p>
          <a:p>
            <a:pPr lvl="2"/>
            <a:r>
              <a:rPr lang="en-GB" dirty="0"/>
              <a:t>Because of code consistency and element delegation through the DOM hierarchy</a:t>
            </a:r>
          </a:p>
          <a:p>
            <a:pPr lvl="3"/>
            <a:r>
              <a:rPr lang="en-GB" dirty="0"/>
              <a:t>Delegation means a single event handler on an element will be triggered by children of that element</a:t>
            </a:r>
          </a:p>
        </p:txBody>
      </p:sp>
    </p:spTree>
    <p:extLst>
      <p:ext uri="{BB962C8B-B14F-4D97-AF65-F5344CB8AC3E}">
        <p14:creationId xmlns:p14="http://schemas.microsoft.com/office/powerpoint/2010/main" val="1644096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F5A74-BF4F-E47F-48A3-B3BBD06F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Mouse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FA55D-683E-149F-15C2-176A303DA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Change paragraph colour on mouse over events</a:t>
            </a:r>
          </a:p>
          <a:p>
            <a:r>
              <a:rPr lang="en-GB" dirty="0"/>
              <a:t>On the mouse entering the paragraph, the background changes to yellow</a:t>
            </a:r>
          </a:p>
          <a:p>
            <a:r>
              <a:rPr lang="en-GB" dirty="0"/>
              <a:t>Changes back to white on leaving the paragraph element</a:t>
            </a:r>
          </a:p>
          <a:p>
            <a:endParaRPr lang="en-GB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$("p").on("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mouseenter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", function(){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$(this).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background","yellow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$("p").on("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mouseleave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", function(){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$(this).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background","white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5150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46E29-8B2D-687A-8BBF-7F09589DE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JQuery</a:t>
            </a:r>
            <a:r>
              <a:rPr lang="en-GB" dirty="0"/>
              <a:t> Element Setting and Returning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F66F6-D473-4A55-43A2-CEDF06017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05275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10000"/>
              </a:lnSpc>
            </a:pPr>
            <a:r>
              <a:rPr lang="en-GB" dirty="0"/>
              <a:t>We have seen how to set the </a:t>
            </a:r>
            <a:r>
              <a:rPr lang="en-GB" dirty="0" err="1"/>
              <a:t>css</a:t>
            </a:r>
            <a:r>
              <a:rPr lang="en-GB" dirty="0"/>
              <a:t> of an element with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This can also be used to return the </a:t>
            </a:r>
            <a:r>
              <a:rPr lang="en-GB" dirty="0" err="1"/>
              <a:t>css</a:t>
            </a:r>
            <a:endParaRPr lang="en-GB" dirty="0"/>
          </a:p>
          <a:p>
            <a:pPr>
              <a:lnSpc>
                <a:spcPct val="110000"/>
              </a:lnSpc>
            </a:pPr>
            <a:r>
              <a:rPr lang="en-GB" dirty="0"/>
              <a:t>Visibility of an element: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.hide()</a:t>
            </a:r>
            <a:r>
              <a:rPr lang="en-GB" dirty="0"/>
              <a:t>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.show()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$(".disappear").hide(); // hides all elements with class disappear</a:t>
            </a:r>
          </a:p>
          <a:p>
            <a:pPr>
              <a:lnSpc>
                <a:spcPct val="110000"/>
              </a:lnSpc>
            </a:pPr>
            <a:r>
              <a:rPr lang="en-GB" dirty="0"/>
              <a:t>Set or return the </a:t>
            </a:r>
            <a:r>
              <a:rPr lang="en-GB" dirty="0" err="1"/>
              <a:t>InnerHTML</a:t>
            </a:r>
            <a:r>
              <a:rPr lang="en-GB" dirty="0"/>
              <a:t> with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.html()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$("#message").html("Error") // changes element text to "Error" </a:t>
            </a:r>
          </a:p>
          <a:p>
            <a:pPr>
              <a:lnSpc>
                <a:spcPct val="110000"/>
              </a:lnSpc>
            </a:pPr>
            <a:r>
              <a:rPr lang="en-GB" dirty="0"/>
              <a:t>Set or return attributes with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$("#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inputName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("size",30) // changes the size of the input with id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inputName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to 30</a:t>
            </a:r>
          </a:p>
          <a:p>
            <a:pPr>
              <a:lnSpc>
                <a:spcPct val="110000"/>
              </a:lnSpc>
            </a:pPr>
            <a:r>
              <a:rPr lang="en-GB" dirty="0"/>
              <a:t>Set or return values of inputs with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$("input").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("") // Set all inputs to the empty string</a:t>
            </a:r>
          </a:p>
          <a:p>
            <a:pPr>
              <a:lnSpc>
                <a:spcPct val="110000"/>
              </a:lnSpc>
            </a:pPr>
            <a:r>
              <a:rPr lang="en-GB" dirty="0"/>
              <a:t>Set or return properties of elements with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.prop()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$(".c").prop("disabled", true) // disable all inputs with class c</a:t>
            </a: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2147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81DB8-2150-E559-FEA4-241600E35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Quiz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FA03E-507F-DB74-47BC-90F4E9F9B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00" y="1825625"/>
            <a:ext cx="37211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Add JavaScript to hide all paragraphs when the h1v with id </a:t>
            </a:r>
            <a:r>
              <a:rPr lang="en-GB" b="1" dirty="0">
                <a:latin typeface="Courier New" panose="02070309020205020404" pitchFamily="49" charset="0"/>
              </a:rPr>
              <a:t>"</a:t>
            </a:r>
            <a:r>
              <a:rPr lang="en-GB" dirty="0"/>
              <a:t>#</a:t>
            </a:r>
            <a:r>
              <a:rPr lang="en-GB" dirty="0" err="1"/>
              <a:t>hideHeading</a:t>
            </a:r>
            <a:r>
              <a:rPr lang="en-GB" b="1" dirty="0">
                <a:latin typeface="Courier New" panose="02070309020205020404" pitchFamily="49" charset="0"/>
              </a:rPr>
              <a:t>"</a:t>
            </a:r>
            <a:r>
              <a:rPr lang="en-GB" dirty="0"/>
              <a:t> is double clicked (</a:t>
            </a:r>
            <a:r>
              <a:rPr lang="en-GB" b="1" dirty="0">
                <a:latin typeface="Courier New" panose="02070309020205020404" pitchFamily="49" charset="0"/>
              </a:rPr>
              <a:t>"</a:t>
            </a:r>
            <a:r>
              <a:rPr lang="en-GB" dirty="0" err="1"/>
              <a:t>dblclick</a:t>
            </a:r>
            <a:r>
              <a:rPr lang="en-GB" b="1" dirty="0">
                <a:latin typeface="Courier New" panose="02070309020205020404" pitchFamily="49" charset="0"/>
              </a:rPr>
              <a:t>"</a:t>
            </a:r>
            <a:r>
              <a:rPr lang="en-GB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3A216-F854-5B48-E2C5-3E4EABB1C332}"/>
              </a:ext>
            </a:extLst>
          </p:cNvPr>
          <p:cNvSpPr txBox="1"/>
          <p:nvPr/>
        </p:nvSpPr>
        <p:spPr>
          <a:xfrm>
            <a:off x="4770115" y="751344"/>
            <a:ext cx="694944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&lt;!</a:t>
            </a:r>
            <a:r>
              <a:rPr lang="en-GB" sz="1800" b="1" dirty="0">
                <a:solidFill>
                  <a:srgbClr val="0000DD"/>
                </a:solidFill>
                <a:effectLst/>
                <a:latin typeface="Courier New" panose="02070309020205020404" pitchFamily="49" charset="0"/>
              </a:rPr>
              <a:t>DOCTYPE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0000DD"/>
                </a:solidFill>
                <a:effectLst/>
                <a:latin typeface="Courier New" panose="02070309020205020404" pitchFamily="49" charset="0"/>
              </a:rPr>
              <a:t>html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&lt;html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lang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800" b="1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GB" sz="1800" b="1" dirty="0" err="1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en</a:t>
            </a:r>
            <a:r>
              <a:rPr lang="en-GB" sz="1800" b="1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&lt;head&gt;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  &lt;meta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charset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800" b="1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"UTF-8"</a:t>
            </a: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  &lt;title&gt;</a:t>
            </a:r>
            <a:r>
              <a:rPr lang="en-GB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jQuery Quick Quiz 1</a:t>
            </a: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&lt;/title&gt;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  &lt;script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8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src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800" b="1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"https://cs.kent.ac.uk/~pjr/jquery-4.0.0.js"</a:t>
            </a: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&gt;&lt;/script&gt;</a:t>
            </a:r>
            <a:endParaRPr lang="en-GB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  &lt;script&gt;</a:t>
            </a:r>
          </a:p>
          <a:p>
            <a:pPr>
              <a:buNone/>
            </a:pPr>
            <a:r>
              <a:rPr lang="en-GB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   // Your code here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  &lt;/script&gt;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&lt;/head&gt;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&lt;body&gt;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  &lt;h1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id</a:t>
            </a:r>
            <a:r>
              <a:rPr lang="en-GB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GB" sz="1800" b="1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GB" sz="1800" b="1" dirty="0" err="1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hideHeading</a:t>
            </a:r>
            <a:r>
              <a:rPr lang="en-GB" sz="1800" b="1" dirty="0">
                <a:solidFill>
                  <a:srgbClr val="8000FF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Double Click to Hide Paragraphs </a:t>
            </a: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&lt;/h1&gt;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  &lt;p&gt;</a:t>
            </a:r>
            <a:r>
              <a:rPr lang="en-GB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Paragraph 1</a:t>
            </a: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&lt;/p&gt;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  &lt;p&gt;</a:t>
            </a:r>
            <a:r>
              <a:rPr lang="en-GB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Paragraph 2</a:t>
            </a: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&lt;/p&gt;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&lt;/body&gt;</a:t>
            </a:r>
          </a:p>
          <a:p>
            <a:pPr>
              <a:buNone/>
            </a:pPr>
            <a:r>
              <a:rPr lang="en-GB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&lt;/html&gt;</a:t>
            </a:r>
            <a:r>
              <a:rPr lang="en-GB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29568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BE11-53A0-1349-3F51-8C0E6800C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Keypress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C6CE1-B875-0AA7-3607-1E0D4EC97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If we have this html in our body:</a:t>
            </a:r>
          </a:p>
          <a:p>
            <a:pPr marL="0" indent="0">
              <a:lnSpc>
                <a:spcPct val="120000"/>
              </a:lnSpc>
              <a:buNone/>
            </a:pPr>
            <a:endParaRPr lang="en-GB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&lt;form&gt;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&lt;label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inputName</a:t>
            </a:r>
            <a:r>
              <a:rPr lang="en-GB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&gt;New Username:</a:t>
            </a:r>
            <a:r>
              <a:rPr lang="en-GB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&lt;/label&gt;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&lt;input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"text"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inputName</a:t>
            </a:r>
            <a:r>
              <a:rPr lang="en-GB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inputName</a:t>
            </a:r>
            <a:r>
              <a:rPr lang="en-GB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&lt;/form&gt;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&lt;p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"message"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GB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Message Here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</a:p>
          <a:p>
            <a:pPr>
              <a:lnSpc>
                <a:spcPct val="120000"/>
              </a:lnSpc>
            </a:pPr>
            <a:endParaRPr lang="en-GB" sz="900" dirty="0"/>
          </a:p>
          <a:p>
            <a:pPr>
              <a:lnSpc>
                <a:spcPct val="120000"/>
              </a:lnSpc>
            </a:pPr>
            <a:r>
              <a:rPr lang="en-GB" dirty="0"/>
              <a:t>We can apply this event handler in jQuery, which will output a message if space is pressed</a:t>
            </a:r>
          </a:p>
          <a:p>
            <a:pPr>
              <a:lnSpc>
                <a:spcPct val="120000"/>
              </a:lnSpc>
            </a:pPr>
            <a:endParaRPr lang="en-GB" sz="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$("#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inputName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").on("keypress", function(event)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event.key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=== ' ')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$("#message").html("space pressed")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2998446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B045B-6BA3-3A1A-EF52-FFB1142BD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146E7-7C20-F279-AAA5-053791640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jQuery is a widely used library  for simplifying JavaScript</a:t>
            </a:r>
          </a:p>
          <a:p>
            <a:r>
              <a:rPr lang="en-GB" dirty="0"/>
              <a:t>It is useful for creating active web pages</a:t>
            </a:r>
          </a:p>
          <a:p>
            <a:pPr lvl="1"/>
            <a:r>
              <a:rPr lang="en-GB" dirty="0"/>
              <a:t>We can perform actions based on events in the document</a:t>
            </a:r>
          </a:p>
          <a:p>
            <a:r>
              <a:rPr lang="en-GB" dirty="0"/>
              <a:t>Next time we will look at</a:t>
            </a:r>
          </a:p>
          <a:p>
            <a:pPr lvl="1"/>
            <a:r>
              <a:rPr lang="en-GB" dirty="0" err="1"/>
              <a:t>JQuery</a:t>
            </a:r>
            <a:r>
              <a:rPr lang="en-GB" dirty="0"/>
              <a:t> </a:t>
            </a:r>
            <a:r>
              <a:rPr lang="en-GB"/>
              <a:t>and SVG</a:t>
            </a:r>
            <a:endParaRPr lang="en-GB" dirty="0"/>
          </a:p>
          <a:p>
            <a:pPr lvl="1"/>
            <a:r>
              <a:rPr lang="en-GB" dirty="0"/>
              <a:t>Callbacks</a:t>
            </a:r>
          </a:p>
          <a:p>
            <a:pPr lvl="1"/>
            <a:r>
              <a:rPr lang="en-GB" dirty="0"/>
              <a:t>DOM traversal</a:t>
            </a:r>
          </a:p>
        </p:txBody>
      </p:sp>
    </p:spTree>
    <p:extLst>
      <p:ext uri="{BB962C8B-B14F-4D97-AF65-F5344CB8AC3E}">
        <p14:creationId xmlns:p14="http://schemas.microsoft.com/office/powerpoint/2010/main" val="81686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1102</Words>
  <Application>Microsoft Office PowerPoint</Application>
  <PresentationFormat>Widescreen</PresentationFormat>
  <Paragraphs>149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Office Theme</vt:lpstr>
      <vt:lpstr>COMP5008 jQuery</vt:lpstr>
      <vt:lpstr>Overview</vt:lpstr>
      <vt:lpstr>jQuery Outline</vt:lpstr>
      <vt:lpstr>Accessing jQuery</vt:lpstr>
      <vt:lpstr>jQuery Syntax</vt:lpstr>
      <vt:lpstr>Document Ready</vt:lpstr>
      <vt:lpstr>Simple jQuery example</vt:lpstr>
      <vt:lpstr>Event Handlers</vt:lpstr>
      <vt:lpstr>Mouse example</vt:lpstr>
      <vt:lpstr>JQuery Element Setting and Returning</vt:lpstr>
      <vt:lpstr>Quick Quiz 1</vt:lpstr>
      <vt:lpstr>Keypress example</vt:lpstr>
      <vt:lpstr>Summary</vt:lpstr>
    </vt:vector>
  </TitlesOfParts>
  <Company>University of Kent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Rodgers</dc:creator>
  <cp:lastModifiedBy>Peter Rodgers</cp:lastModifiedBy>
  <cp:revision>68</cp:revision>
  <dcterms:created xsi:type="dcterms:W3CDTF">2026-04-09T07:40:29Z</dcterms:created>
  <dcterms:modified xsi:type="dcterms:W3CDTF">2026-04-30T10:16:14Z</dcterms:modified>
</cp:coreProperties>
</file>