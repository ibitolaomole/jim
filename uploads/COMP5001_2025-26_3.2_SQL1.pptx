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59"/>
  </p:notesMasterIdLst>
  <p:handoutMasterIdLst>
    <p:handoutMasterId r:id="rId60"/>
  </p:handoutMasterIdLst>
  <p:sldIdLst>
    <p:sldId id="857" r:id="rId2"/>
    <p:sldId id="385" r:id="rId3"/>
    <p:sldId id="963" r:id="rId4"/>
    <p:sldId id="964" r:id="rId5"/>
    <p:sldId id="927" r:id="rId6"/>
    <p:sldId id="961" r:id="rId7"/>
    <p:sldId id="1073" r:id="rId8"/>
    <p:sldId id="1077" r:id="rId9"/>
    <p:sldId id="1078" r:id="rId10"/>
    <p:sldId id="929" r:id="rId11"/>
    <p:sldId id="1025" r:id="rId12"/>
    <p:sldId id="1068" r:id="rId13"/>
    <p:sldId id="1027" r:id="rId14"/>
    <p:sldId id="1067" r:id="rId15"/>
    <p:sldId id="1069" r:id="rId16"/>
    <p:sldId id="1026" r:id="rId17"/>
    <p:sldId id="1074" r:id="rId18"/>
    <p:sldId id="1071" r:id="rId19"/>
    <p:sldId id="1070" r:id="rId20"/>
    <p:sldId id="1072" r:id="rId21"/>
    <p:sldId id="1030" r:id="rId22"/>
    <p:sldId id="1064" r:id="rId23"/>
    <p:sldId id="1066" r:id="rId24"/>
    <p:sldId id="1028" r:id="rId25"/>
    <p:sldId id="1032" r:id="rId26"/>
    <p:sldId id="1033" r:id="rId27"/>
    <p:sldId id="1031" r:id="rId28"/>
    <p:sldId id="1075" r:id="rId29"/>
    <p:sldId id="383" r:id="rId30"/>
    <p:sldId id="1076" r:id="rId31"/>
    <p:sldId id="1079" r:id="rId32"/>
    <p:sldId id="1039" r:id="rId33"/>
    <p:sldId id="1080" r:id="rId34"/>
    <p:sldId id="1035" r:id="rId35"/>
    <p:sldId id="1040" r:id="rId36"/>
    <p:sldId id="1041" r:id="rId37"/>
    <p:sldId id="1081" r:id="rId38"/>
    <p:sldId id="1010" r:id="rId39"/>
    <p:sldId id="973" r:id="rId40"/>
    <p:sldId id="1042" r:id="rId41"/>
    <p:sldId id="1044" r:id="rId42"/>
    <p:sldId id="1043" r:id="rId43"/>
    <p:sldId id="1045" r:id="rId44"/>
    <p:sldId id="1046" r:id="rId45"/>
    <p:sldId id="465" r:id="rId46"/>
    <p:sldId id="1083" r:id="rId47"/>
    <p:sldId id="1084" r:id="rId48"/>
    <p:sldId id="1011" r:id="rId49"/>
    <p:sldId id="1060" r:id="rId50"/>
    <p:sldId id="1061" r:id="rId51"/>
    <p:sldId id="975" r:id="rId52"/>
    <p:sldId id="1051" r:id="rId53"/>
    <p:sldId id="1052" r:id="rId54"/>
    <p:sldId id="960" r:id="rId55"/>
    <p:sldId id="1085" r:id="rId56"/>
    <p:sldId id="389" r:id="rId57"/>
    <p:sldId id="856" r:id="rId58"/>
  </p:sldIdLst>
  <p:sldSz cx="12192000" cy="6858000"/>
  <p:notesSz cx="6858000" cy="9144000"/>
  <p:custShowLst>
    <p:custShow name="Custom Show 1" id="0">
      <p:sldLst/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AEB"/>
    <a:srgbClr val="2677C8"/>
    <a:srgbClr val="003882"/>
    <a:srgbClr val="FFFFFF"/>
    <a:srgbClr val="ADB5BC"/>
    <a:srgbClr val="335B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3" autoAdjust="0"/>
    <p:restoredTop sz="74040" autoAdjust="0"/>
  </p:normalViewPr>
  <p:slideViewPr>
    <p:cSldViewPr snapToGrid="0">
      <p:cViewPr varScale="1">
        <p:scale>
          <a:sx n="47" d="100"/>
          <a:sy n="47" d="100"/>
        </p:scale>
        <p:origin x="100" y="36"/>
      </p:cViewPr>
      <p:guideLst/>
    </p:cSldViewPr>
  </p:slideViewPr>
  <p:outlineViewPr>
    <p:cViewPr>
      <p:scale>
        <a:sx n="33" d="100"/>
        <a:sy n="33" d="100"/>
      </p:scale>
      <p:origin x="0" y="-31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748"/>
    </p:cViewPr>
  </p:sorterViewPr>
  <p:notesViewPr>
    <p:cSldViewPr snapToGrid="0">
      <p:cViewPr varScale="1">
        <p:scale>
          <a:sx n="51" d="100"/>
          <a:sy n="51" d="100"/>
        </p:scale>
        <p:origin x="269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1EA846-7A0D-48DD-B204-6763399AE9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F35D2-E158-4CBB-A37E-0861049956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75EEC-9A82-4700-A0F5-00FA458A193F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FC1828-9455-4783-BE3F-48391B7313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E9C3A-27AE-4228-9DE4-B394D0946F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106BA-3C05-457C-BF10-33FE0A7AF8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9608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60CB32-E275-4F99-8712-7BC4B340395A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3E6DD-AC51-4C54-BBEA-F0A4EA3EDB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0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B3E6DD-AC51-4C54-BBEA-F0A4EA3EDB2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027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Logical Data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1..1 Staff </a:t>
            </a:r>
            <a:r>
              <a:rPr lang="en-GB" i="1" dirty="0"/>
              <a:t>is allocated</a:t>
            </a:r>
            <a:r>
              <a:rPr lang="en-GB" dirty="0"/>
              <a:t> 0..* Teaching Assignments – a staff is allocated one or more, or none at all teaching assignments.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1..1 Module </a:t>
            </a:r>
            <a:r>
              <a:rPr lang="en-GB" i="1" dirty="0"/>
              <a:t>has</a:t>
            </a:r>
            <a:r>
              <a:rPr lang="en-GB" dirty="0"/>
              <a:t> 1..* Teaching Assignments – a module may have multiple teaching assignments, but must have at least 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1..1 Staff </a:t>
            </a:r>
            <a:r>
              <a:rPr lang="en-GB" i="1" dirty="0"/>
              <a:t>supervises</a:t>
            </a:r>
            <a:r>
              <a:rPr lang="en-GB" dirty="0"/>
              <a:t> 0..* PG – a staff may supervise one or more PG students, or none at all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1..1 Staff </a:t>
            </a:r>
            <a:r>
              <a:rPr lang="en-GB" i="1" dirty="0"/>
              <a:t>tutors</a:t>
            </a:r>
            <a:r>
              <a:rPr lang="en-GB" dirty="0"/>
              <a:t> 0..* UG – a staff may tutor one or more UG students, or none at all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1..1 Module </a:t>
            </a:r>
            <a:r>
              <a:rPr lang="en-GB" i="1" dirty="0"/>
              <a:t>has</a:t>
            </a:r>
            <a:r>
              <a:rPr lang="en-GB" dirty="0"/>
              <a:t> 0..* Registration – a module may have one or more registrations on the module, or none at all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1..1 UG </a:t>
            </a:r>
            <a:r>
              <a:rPr lang="en-GB" i="1" dirty="0"/>
              <a:t>makes</a:t>
            </a:r>
            <a:r>
              <a:rPr lang="en-GB" dirty="0"/>
              <a:t> 1..* Registration – a student may make one or more registrations on a module - must make at least one registration (participation is mandatory)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014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See more: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https://www.postgresql.org/docs/current/datatype.html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2252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See more: https://slate.com/technology/2019/10/round-floor-software-errors-stock-market-battlefield.html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138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the Decimal type syntax is Decimal(precision, scale). Same syntax applies to numeric type.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For example, 23.5141 has a precision of 6 and a scale of 4.</a:t>
            </a:r>
          </a:p>
          <a:p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Precision: the number before the comma represents the maximum total number of digits excluding the dot.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Scale: the number after the comma represents the number of digits after the dot.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203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There are standard SQL data types, but each DBMS does implement specific data types. As such, data types are generally specific to the DBMS you are using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If you want your PK to be an autoincrement, you can use one of the SERIAL types in PostgreSQL, i.e., SERIAL, SMALLSERIAL, or BIGSERIAL. See more: https://www.postgresqltutorial.com/postgresql-tutorial/postgresql-serial/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281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Because ‘Tutor’ in UG is a foreign key referencing </a:t>
            </a:r>
            <a:r>
              <a:rPr lang="en-GB" dirty="0" err="1"/>
              <a:t>Staff_ID</a:t>
            </a:r>
            <a:r>
              <a:rPr lang="en-GB" dirty="0"/>
              <a:t> in Staff, both the data type and its size must match the data type and size of </a:t>
            </a:r>
            <a:r>
              <a:rPr lang="en-GB" dirty="0" err="1"/>
              <a:t>Staff_ID</a:t>
            </a:r>
            <a:r>
              <a:rPr lang="en-GB" dirty="0"/>
              <a:t> in Staff.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There are standard SQL data types, but each DBMS does implement specific data types. As such, data types are generally specific to the DBMS you are using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If you want your PK to be an autoincrement, you can use one of the SERIAL types in PostgreSQL, i.e., SERIAL, SMALLSERIAL, or BIGSERIAL. See more: https://www.postgresqltutorial.com/postgresql-tutorial/postgresql-serial/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624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460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Yes, the order is important.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All parent tables must be created before child tables (child tables - tables that have a foreign key referring to a primary key in another table).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When deleting, you delete in the </a:t>
            </a:r>
            <a:r>
              <a:rPr lang="en-GB"/>
              <a:t>reverse order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4917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 will be the first to admit that I do not always adhere to the </a:t>
            </a:r>
            <a:r>
              <a:rPr lang="en-GB" dirty="0" err="1"/>
              <a:t>snake_case</a:t>
            </a:r>
            <a:r>
              <a:rPr lang="en-GB" dirty="0"/>
              <a:t> convention. I worked for several years with Microsoft SQL Server and camelCase or </a:t>
            </a:r>
            <a:r>
              <a:rPr lang="en-GB" dirty="0" err="1"/>
              <a:t>PascalCase</a:t>
            </a:r>
            <a:r>
              <a:rPr lang="en-GB" dirty="0"/>
              <a:t> was not a problem </a:t>
            </a:r>
            <a:r>
              <a:rPr lang="en-GB" dirty="0">
                <a:sym typeface="Wingdings" panose="05000000000000000000" pitchFamily="2" charset="2"/>
              </a:rPr>
              <a:t>.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6133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Entity Integrity: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All primary key values are unique.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No part of a primary key may be null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None of the attributes that are a primary key can be null.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If the PK is a composite key, none of the attributes that make up the composite key can be null.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102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room cannot be booked by two people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00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your primary key is a composite key, you create it after the column definitions of the attributes making up the primary key using the following syntax:</a:t>
            </a:r>
          </a:p>
          <a:p>
            <a:r>
              <a:rPr lang="en-GB" dirty="0"/>
              <a:t>…, column definitions here (don’t forget the comma)</a:t>
            </a:r>
          </a:p>
          <a:p>
            <a:r>
              <a:rPr lang="en-GB" dirty="0"/>
              <a:t>PRIMARY KEY (attribute1, attribute2, …)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049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Note: for a composite key, you </a:t>
            </a:r>
            <a:r>
              <a:rPr lang="en-GB" u="sng" dirty="0"/>
              <a:t>cannot</a:t>
            </a:r>
            <a:r>
              <a:rPr lang="en-GB" dirty="0"/>
              <a:t> specify PRIMARY KEY after each column as was done on the previous slide. It will not work.</a:t>
            </a:r>
          </a:p>
          <a:p>
            <a:endParaRPr lang="en-GB" dirty="0"/>
          </a:p>
          <a:p>
            <a:r>
              <a:rPr lang="en-GB" dirty="0"/>
              <a:t>See more: https://www.postgresql.org/docs/current/ddl-constraints.html#DDL-CONSTRAINTS-PRIMARY-KEYS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6590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Any INSERT/UPDATE attempting to create a FK value in a child table </a:t>
            </a:r>
            <a:r>
              <a:rPr lang="en-GB" i="1" u="sng" dirty="0"/>
              <a:t>without</a:t>
            </a:r>
            <a:r>
              <a:rPr lang="en-GB" dirty="0"/>
              <a:t> a matching PK in the parent table will be rejected.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9984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Any INSERT/UPDATE attempting to create a FK value in a child table </a:t>
            </a:r>
            <a:r>
              <a:rPr lang="en-GB" i="1" u="sng" dirty="0"/>
              <a:t>without</a:t>
            </a:r>
            <a:r>
              <a:rPr lang="en-GB" dirty="0"/>
              <a:t> a matching PK in the parent table will be rejected.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9024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Any INSERT/UPDATE attempting to create a FK value in a child table </a:t>
            </a:r>
            <a:r>
              <a:rPr lang="en-GB" i="1" u="sng" dirty="0"/>
              <a:t>without</a:t>
            </a:r>
            <a:r>
              <a:rPr lang="en-GB" dirty="0"/>
              <a:t> a matching PK in the parent table will be rejected.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5892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See more options here:</a:t>
            </a:r>
          </a:p>
          <a:p>
            <a:r>
              <a:rPr lang="en-GB" dirty="0"/>
              <a:t>https://www.tutorialsteacher.com/postgresql/foreign-key</a:t>
            </a:r>
          </a:p>
          <a:p>
            <a:r>
              <a:rPr lang="en-GB" dirty="0"/>
              <a:t>https://www.postgresql.org/docs/current/sql-createtable.html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676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5244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core components of SQL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Data Definition Language (DDL) – for defining and creating the database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Data Manipulation Language (DML) – for querying the database, i.e., populating, reading, and modifying the data in the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97841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It is not recommended to omit the table column names in the insert statement as in most scenarios you are unlikely to know the create order of the columns </a:t>
            </a:r>
            <a:r>
              <a:rPr lang="en-GB"/>
              <a:t>in the table.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7306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9430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9785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Use SELECT * cautiously!</a:t>
            </a:r>
          </a:p>
          <a:p>
            <a:r>
              <a:rPr lang="en-GB" dirty="0"/>
              <a:t>Some tables may contain sensitive data, If you use SELECT * to generate a report that is shared with everyone, then the users may have access to data that they are not supposed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3E6DD-AC51-4C54-BBEA-F0A4EA3EDB28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4202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can also look at chapter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B3E6DD-AC51-4C54-BBEA-F0A4EA3EDB2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4123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407E0-CF4A-4BBB-B91A-8D77F98AA805}" type="datetime1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317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47A62E-2943-496B-BCCA-1A8691C37B3F}"/>
              </a:ext>
            </a:extLst>
          </p:cNvPr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0FC6C2-2FF6-48A2-A899-33793128B1EE}"/>
              </a:ext>
            </a:extLst>
          </p:cNvPr>
          <p:cNvSpPr/>
          <p:nvPr userDrawn="1"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108000"/>
          <a:lstStyle>
            <a:lvl1pPr marL="91440" indent="-144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C89B-A611-4D1F-A458-10E025FA8C65}" type="datetime1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B9A8DD7-01E8-4ABB-80F2-289CC3C05327}"/>
              </a:ext>
            </a:extLst>
          </p:cNvPr>
          <p:cNvCxnSpPr/>
          <p:nvPr userDrawn="1"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997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3A1CC-C5A2-4779-B191-0C4786B3F791}" type="datetime1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605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67360E-3181-4901-A698-D78052F3C266}"/>
              </a:ext>
            </a:extLst>
          </p:cNvPr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34A803-DFD4-46E4-868E-7582A98E4C89}"/>
              </a:ext>
            </a:extLst>
          </p:cNvPr>
          <p:cNvSpPr/>
          <p:nvPr userDrawn="1"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>
            <a:lvl1pPr marL="180000" indent="-144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>
            <a:lvl1pPr marL="180000" indent="-144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F422D-E05D-457D-9F0C-3F0BB33EADDE}" type="datetime1">
              <a:rPr lang="en-GB" smtClean="0"/>
              <a:t>19/10/2025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E514F2-313B-4F0F-9100-A76885DF872E}"/>
              </a:ext>
            </a:extLst>
          </p:cNvPr>
          <p:cNvCxnSpPr/>
          <p:nvPr userDrawn="1"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2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5BD9A6-511E-4427-9B32-264672DE4039}"/>
              </a:ext>
            </a:extLst>
          </p:cNvPr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2577F1-EF36-4E44-AAAF-A46C0034EA5F}"/>
              </a:ext>
            </a:extLst>
          </p:cNvPr>
          <p:cNvSpPr/>
          <p:nvPr userDrawn="1"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361-4A1A-4335-A8A0-0A8B69705ACE}" type="datetime1">
              <a:rPr lang="en-GB" smtClean="0"/>
              <a:t>19/10/2025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‹#›</a:t>
            </a:fld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58051B-EAF1-49F3-BF58-5F5224B4EDB1}"/>
              </a:ext>
            </a:extLst>
          </p:cNvPr>
          <p:cNvCxnSpPr/>
          <p:nvPr userDrawn="1"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06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FBD25BE-8343-4D84-94C7-898117B72B4B}"/>
              </a:ext>
            </a:extLst>
          </p:cNvPr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46267A-63BF-49B4-BF77-4A0F294A21D6}"/>
              </a:ext>
            </a:extLst>
          </p:cNvPr>
          <p:cNvSpPr/>
          <p:nvPr userDrawn="1"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07933-541B-4006-910D-85EB0A2FD08B}" type="datetime1">
              <a:rPr lang="en-GB" smtClean="0"/>
              <a:t>19/10/2025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D62EC5-AA17-4B2C-9A5C-2B7AFD4AF19C}"/>
              </a:ext>
            </a:extLst>
          </p:cNvPr>
          <p:cNvCxnSpPr/>
          <p:nvPr userDrawn="1"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91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75E9E-A004-44D8-869E-DD08621F6358}" type="datetime1">
              <a:rPr lang="en-GB" smtClean="0"/>
              <a:t>19/10/2025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421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86C65D9-789A-445A-9265-A31D15ECFC18}" type="datetime1">
              <a:rPr lang="en-GB" smtClean="0"/>
              <a:t>19/10/2025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6A34F1-7EE3-4CA4-B196-255978C82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2930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D4C9-FFF2-4B1B-A5D1-BC4695B386BC}" type="datetime1">
              <a:rPr lang="en-GB" smtClean="0"/>
              <a:t>19/10/2025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95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171A9D-B530-4E69-8321-B044CEC042CE}"/>
              </a:ext>
            </a:extLst>
          </p:cNvPr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DBF44A-E81A-4A61-915A-51C9A52AE137}"/>
              </a:ext>
            </a:extLst>
          </p:cNvPr>
          <p:cNvSpPr/>
          <p:nvPr userDrawn="1"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A4F64-AA51-4C42-B957-E5020E0B3F92}" type="datetime1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51D561-D705-49A5-8311-69404EC8172E}"/>
              </a:ext>
            </a:extLst>
          </p:cNvPr>
          <p:cNvCxnSpPr/>
          <p:nvPr userDrawn="1"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1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52665-A70E-4FA0-AE9E-10A27236E976}" type="datetime1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598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12ECB1E-D108-481C-8ED3-9061F6C41870}" type="datetime1">
              <a:rPr lang="en-GB" smtClean="0"/>
              <a:t>19/10/2025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96A34F1-7EE3-4CA4-B196-255978C82451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152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.j.rodgers@kent.ac.uk" TargetMode="External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mailto:k.ademoye@kent.ac.uk" TargetMode="External"/><Relationship Id="rId4" Type="http://schemas.openxmlformats.org/officeDocument/2006/relationships/hyperlink" Target="mailto:V.Bonthuys@kent.ac.uk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aptor.kent.ac.uk/~ka470/modules/comp5001/cw/2025-2026/" TargetMode="External"/><Relationship Id="rId2" Type="http://schemas.openxmlformats.org/officeDocument/2006/relationships/hyperlink" Target="https://moodle.kent.ac.uk/2025/pluginfile.php/152423/mod_resource/content/1/COMP5001_2025-26_Mini_Practical1_Brief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kent.cloud.panopto.eu/Panopto/Pages/Viewer.aspx?id=b2ba4b41-44aa-45cf-b1b5-b37b00f27906" TargetMode="External"/><Relationship Id="rId2" Type="http://schemas.openxmlformats.org/officeDocument/2006/relationships/hyperlink" Target="https://www.pgadmin.org/download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postgresql.org/download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current/datatype-money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ostgresql.org/docs/current/datatype.htm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rainstation.io/learn/sql/naming-conventions" TargetMode="External"/><Relationship Id="rId2" Type="http://schemas.openxmlformats.org/officeDocument/2006/relationships/hyperlink" Target="https://www.databasestar.com/sql-best-practices/#Naming_Convention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qlstyle.guide/#naming-conventions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E220058-3FCE-496E-ADF2-D8A6961F3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93F809-7E50-4AAD-8E26-878207931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44603" y="4325112"/>
            <a:ext cx="71323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78A525CD-AB00-4EAE-835F-5AD229663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6504" y="758952"/>
            <a:ext cx="7319175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SQL 1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B71915C-D411-4B89-9CBF-49855E92A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6504" y="4455620"/>
            <a:ext cx="7321946" cy="1494804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US" dirty="0"/>
              <a:t>COMP5001: Database Systems</a:t>
            </a:r>
          </a:p>
          <a:p>
            <a:pPr>
              <a:spcAft>
                <a:spcPts val="100"/>
              </a:spcAft>
            </a:pPr>
            <a:r>
              <a:rPr lang="en-US" sz="2400" cap="none" dirty="0"/>
              <a:t>Peter Rodgers </a:t>
            </a:r>
            <a:r>
              <a:rPr lang="en-US" sz="2400" cap="none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sz="2400" cap="none" dirty="0">
                <a:solidFill>
                  <a:schemeClr val="bg1">
                    <a:lumMod val="85000"/>
                  </a:schemeClr>
                </a:solidFill>
                <a:hlinkClick r:id="rId3"/>
              </a:rPr>
              <a:t>p.j.rodgers@kent.ac.uk</a:t>
            </a:r>
            <a:r>
              <a:rPr lang="en-US" sz="2400" cap="none" dirty="0">
                <a:solidFill>
                  <a:schemeClr val="bg1">
                    <a:lumMod val="65000"/>
                  </a:schemeClr>
                </a:solidFill>
              </a:rPr>
              <a:t>) 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lang="en-US" sz="2400" cap="none" dirty="0"/>
              <a:t>Vanessa Bonthuys (</a:t>
            </a:r>
            <a:r>
              <a:rPr lang="en-US" sz="2400" cap="none" dirty="0">
                <a:hlinkClick r:id="rId4"/>
              </a:rPr>
              <a:t>v.bonthuys@kent.ac.uk</a:t>
            </a:r>
            <a:r>
              <a:rPr lang="en-US" sz="2400" cap="none" dirty="0"/>
              <a:t>)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lang="en-US" sz="2400" b="1" cap="none" dirty="0"/>
              <a:t>Kemi Ademoye</a:t>
            </a:r>
            <a:r>
              <a:rPr lang="en-US" sz="2400" cap="none" dirty="0"/>
              <a:t>(</a:t>
            </a:r>
            <a:r>
              <a:rPr lang="en-US" sz="2400" cap="none" dirty="0">
                <a:hlinkClick r:id="rId5"/>
              </a:rPr>
              <a:t>k.ademoye@kent.ac.uk</a:t>
            </a:r>
            <a:r>
              <a:rPr lang="en-US" sz="2400" cap="none" dirty="0"/>
              <a:t>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9C5090-7D25-41E3-A6D3-CCAEE505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BF8809-0DAC-41E5-A212-ACB4A01BE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441CE9-BC91-FB98-F988-2727672322C7}"/>
              </a:ext>
            </a:extLst>
          </p:cNvPr>
          <p:cNvSpPr txBox="1"/>
          <p:nvPr/>
        </p:nvSpPr>
        <p:spPr>
          <a:xfrm>
            <a:off x="3837599" y="6023401"/>
            <a:ext cx="7322400" cy="276999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Acknowledgements: Many thanks to Stefan Marr &amp; Peter Rodgers for lecture notes from previous years.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9DB3BF-B26C-4288-862F-E1CAF6CCFA8D}"/>
              </a:ext>
            </a:extLst>
          </p:cNvPr>
          <p:cNvSpPr txBox="1"/>
          <p:nvPr/>
        </p:nvSpPr>
        <p:spPr>
          <a:xfrm>
            <a:off x="8924940" y="6421496"/>
            <a:ext cx="2230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2025-26 - Week </a:t>
            </a:r>
            <a:r>
              <a:rPr lang="en-GB" sz="1400" dirty="0">
                <a:solidFill>
                  <a:prstClr val="white"/>
                </a:solidFill>
                <a:latin typeface="Calibri" panose="020F0502020204030204"/>
              </a:rPr>
              <a:t>3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Lecture 2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34BD7E2-127D-7414-630C-CE094AFA6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3550" y="2374259"/>
            <a:ext cx="2109481" cy="210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846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59FF0-9F8C-45A5-266C-FF8758D9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331D9-9468-6899-D84E-EAFDEF654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From Logical to Physical Data Model</a:t>
            </a:r>
          </a:p>
          <a:p>
            <a:pPr lvl="1"/>
            <a:r>
              <a:rPr lang="en-GB" dirty="0"/>
              <a:t>Data types and table creation</a:t>
            </a:r>
          </a:p>
          <a:p>
            <a:pPr lvl="1"/>
            <a:r>
              <a:rPr lang="en-GB" dirty="0"/>
              <a:t>Constraints in physical model</a:t>
            </a:r>
          </a:p>
          <a:p>
            <a:pPr lvl="1"/>
            <a:r>
              <a:rPr lang="en-GB" dirty="0"/>
              <a:t>Interaction with data changes and referential integrity</a:t>
            </a:r>
          </a:p>
          <a:p>
            <a:pPr lvl="1"/>
            <a:r>
              <a:rPr lang="en-GB" dirty="0"/>
              <a:t>Logical operators</a:t>
            </a:r>
          </a:p>
          <a:p>
            <a:r>
              <a:rPr lang="en-GB" dirty="0"/>
              <a:t>Recap SQL (See COMP3230 for more)</a:t>
            </a:r>
          </a:p>
          <a:p>
            <a:pPr lvl="1"/>
            <a:r>
              <a:rPr lang="en-GB" dirty="0"/>
              <a:t>SQL Basics</a:t>
            </a:r>
          </a:p>
          <a:p>
            <a:pPr lvl="1"/>
            <a:r>
              <a:rPr lang="en-GB" dirty="0"/>
              <a:t>Queries, conditions, joins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DB1A9-143D-274E-2F34-508024CD1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345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D3DB2D-D330-8054-1E08-46DE2CE2E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dirty="0"/>
              <a:t>Mini Practical Exercise 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2682CD-D972-B02B-2982-5EA33157E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70995" y="643467"/>
            <a:ext cx="3341488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The 5001 Drama Corner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E0C22-EC3B-7052-6064-E7E4A89B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96A34F1-7EE3-4CA4-B196-255978C8245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53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C12DEC-9650-BE7A-91CF-C38604EA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Mini-Practical Exercise 2 Tasks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C10857-7E94-E705-8034-43FEF3A7E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Design a database for the 5001 Drama Corner School</a:t>
            </a:r>
          </a:p>
          <a:p>
            <a:pPr lvl="1"/>
            <a:r>
              <a:rPr lang="en-GB" dirty="0">
                <a:hlinkClick r:id="rId2"/>
              </a:rPr>
              <a:t>Details on Moodle</a:t>
            </a:r>
            <a:endParaRPr lang="en-GB" dirty="0"/>
          </a:p>
          <a:p>
            <a:r>
              <a:rPr lang="en-GB" dirty="0"/>
              <a:t>Analyse the prototype available at </a:t>
            </a:r>
            <a:r>
              <a:rPr lang="en-GB" dirty="0">
                <a:hlinkClick r:id="rId3"/>
              </a:rPr>
              <a:t>The 5001 Drama Corner</a:t>
            </a:r>
            <a:r>
              <a:rPr lang="en-GB" dirty="0"/>
              <a:t> (VPN needed if off campus)</a:t>
            </a:r>
          </a:p>
          <a:p>
            <a:pPr lvl="1"/>
            <a:r>
              <a:rPr lang="en-GB" dirty="0"/>
              <a:t>Create a Conceptual Data Model (construct ER model in </a:t>
            </a:r>
            <a:r>
              <a:rPr lang="en-GB" b="1" dirty="0"/>
              <a:t>UML!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Create a Logical Data Model</a:t>
            </a:r>
          </a:p>
          <a:p>
            <a:pPr lvl="1"/>
            <a:r>
              <a:rPr lang="en-GB" dirty="0"/>
              <a:t>Identify required constraints</a:t>
            </a:r>
          </a:p>
          <a:p>
            <a:r>
              <a:rPr lang="en-GB" b="1" dirty="0"/>
              <a:t>Deadline</a:t>
            </a:r>
            <a:r>
              <a:rPr lang="en-GB" dirty="0"/>
              <a:t>: </a:t>
            </a:r>
            <a:r>
              <a:rPr lang="en-GB" dirty="0">
                <a:solidFill>
                  <a:srgbClr val="C00000"/>
                </a:solidFill>
              </a:rPr>
              <a:t>Monday, 3</a:t>
            </a:r>
            <a:r>
              <a:rPr lang="en-GB" baseline="30000" dirty="0">
                <a:solidFill>
                  <a:srgbClr val="C00000"/>
                </a:solidFill>
              </a:rPr>
              <a:t>rd</a:t>
            </a:r>
            <a:r>
              <a:rPr lang="en-GB" dirty="0">
                <a:solidFill>
                  <a:srgbClr val="C00000"/>
                </a:solidFill>
              </a:rPr>
              <a:t> November 2025 by 12 noon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80F04-62F1-B828-8F1C-BC2D9079F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82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E3FF-C904-4C5E-AF5A-C23E1816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Database Design: Today’s Focus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359FF-8665-4B8E-8518-CF930372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D297DE7-9E42-4F27-A0ED-D9156E819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2" cy="41961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940677">
                  <a:extLst>
                    <a:ext uri="{9D8B030D-6E8A-4147-A177-3AD203B41FA5}">
                      <a16:colId xmlns:a16="http://schemas.microsoft.com/office/drawing/2014/main" val="2461583499"/>
                    </a:ext>
                  </a:extLst>
                </a:gridCol>
                <a:gridCol w="2940677">
                  <a:extLst>
                    <a:ext uri="{9D8B030D-6E8A-4147-A177-3AD203B41FA5}">
                      <a16:colId xmlns:a16="http://schemas.microsoft.com/office/drawing/2014/main" val="3255858121"/>
                    </a:ext>
                  </a:extLst>
                </a:gridCol>
                <a:gridCol w="2088524">
                  <a:extLst>
                    <a:ext uri="{9D8B030D-6E8A-4147-A177-3AD203B41FA5}">
                      <a16:colId xmlns:a16="http://schemas.microsoft.com/office/drawing/2014/main" val="1123743036"/>
                    </a:ext>
                  </a:extLst>
                </a:gridCol>
                <a:gridCol w="2088524">
                  <a:extLst>
                    <a:ext uri="{9D8B030D-6E8A-4147-A177-3AD203B41FA5}">
                      <a16:colId xmlns:a16="http://schemas.microsoft.com/office/drawing/2014/main" val="5669774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GB" sz="2400" dirty="0"/>
                        <a:t>Phase</a:t>
                      </a:r>
                    </a:p>
                  </a:txBody>
                  <a:tcPr anchor="b"/>
                </a:tc>
                <a:tc rowSpan="2">
                  <a:txBody>
                    <a:bodyPr/>
                    <a:lstStyle/>
                    <a:p>
                      <a:r>
                        <a:rPr lang="en-GB" sz="2400" dirty="0"/>
                        <a:t>Product</a:t>
                      </a:r>
                    </a:p>
                  </a:txBody>
                  <a:tcPr anchor="b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Dependence on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207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DBMS </a:t>
                      </a:r>
                      <a:br>
                        <a:rPr lang="en-GB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Specific </a:t>
                      </a:r>
                      <a:br>
                        <a:rPr lang="en-GB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DBMS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789314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en-GB" sz="2400" b="1" dirty="0"/>
                        <a:t>Conceptual</a:t>
                      </a:r>
                      <a:r>
                        <a:rPr lang="en-GB" sz="2400" dirty="0"/>
                        <a:t> database design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Conceptual data model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No</a:t>
                      </a:r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No</a:t>
                      </a:r>
                    </a:p>
                  </a:txBody>
                  <a:tcP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726845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 startAt="2"/>
                      </a:pPr>
                      <a:r>
                        <a:rPr lang="en-GB" sz="2400" b="1" dirty="0"/>
                        <a:t>Logical</a:t>
                      </a:r>
                      <a:r>
                        <a:rPr lang="en-GB" sz="2400" dirty="0"/>
                        <a:t> database design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Logical data model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Yes</a:t>
                      </a:r>
                    </a:p>
                  </a:txBody>
                  <a:tcPr>
                    <a:solidFill>
                      <a:srgbClr val="9BE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No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999680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 startAt="3"/>
                      </a:pPr>
                      <a:r>
                        <a:rPr lang="en-GB" sz="2400" b="1" dirty="0"/>
                        <a:t>Physical</a:t>
                      </a:r>
                      <a:r>
                        <a:rPr lang="en-GB" sz="2400" dirty="0"/>
                        <a:t> database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Physical data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Yes</a:t>
                      </a:r>
                    </a:p>
                  </a:txBody>
                  <a:tcPr>
                    <a:solidFill>
                      <a:srgbClr val="9BE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Yes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769894"/>
                  </a:ext>
                </a:extLst>
              </a:tr>
            </a:tbl>
          </a:graphicData>
        </a:graphic>
      </p:graphicFrame>
      <p:sp>
        <p:nvSpPr>
          <p:cNvPr id="5" name="Rectangle: Rounded Corners 4" descr="Today's Focus: Conceptual Database Design">
            <a:extLst>
              <a:ext uri="{FF2B5EF4-FFF2-40B4-BE49-F238E27FC236}">
                <a16:creationId xmlns:a16="http://schemas.microsoft.com/office/drawing/2014/main" id="{CA7FEF29-4B6A-4DF9-8995-E5A3F4A522F1}"/>
              </a:ext>
            </a:extLst>
          </p:cNvPr>
          <p:cNvSpPr/>
          <p:nvPr/>
        </p:nvSpPr>
        <p:spPr>
          <a:xfrm>
            <a:off x="1096963" y="5053262"/>
            <a:ext cx="10058402" cy="974557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95A8C5-6003-4AA5-9F68-3584565032F8}"/>
              </a:ext>
            </a:extLst>
          </p:cNvPr>
          <p:cNvSpPr/>
          <p:nvPr/>
        </p:nvSpPr>
        <p:spPr>
          <a:xfrm rot="505672">
            <a:off x="10467764" y="4909246"/>
            <a:ext cx="1008112" cy="28803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Today</a:t>
            </a:r>
          </a:p>
        </p:txBody>
      </p:sp>
    </p:spTree>
    <p:extLst>
      <p:ext uri="{BB962C8B-B14F-4D97-AF65-F5344CB8AC3E}">
        <p14:creationId xmlns:p14="http://schemas.microsoft.com/office/powerpoint/2010/main" val="414499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6EC8CA-C3BB-3C55-E4A3-29C9C478F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Logical to Physical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0F788F-E3E7-2DCE-19BB-81434133C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Implementing Logical Database Design in a Specific DBMS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FE4B3-CE39-CDC1-D67F-46EA3F54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759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80B1B9-BFA0-2336-7B65-B71C19F52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Structured Query Language (SQL)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915DF-0078-9FEB-B130-5739CAE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SQL stands for Structured Query Language</a:t>
            </a:r>
          </a:p>
          <a:p>
            <a:pPr lvl="1"/>
            <a:r>
              <a:rPr lang="en-GB" dirty="0"/>
              <a:t>Also known as </a:t>
            </a:r>
            <a:r>
              <a:rPr lang="en-GB" b="1" dirty="0"/>
              <a:t>SEQUEL</a:t>
            </a:r>
            <a:r>
              <a:rPr lang="en-GB" dirty="0"/>
              <a:t> (See-</a:t>
            </a:r>
            <a:r>
              <a:rPr lang="en-GB" dirty="0" err="1"/>
              <a:t>Quel</a:t>
            </a:r>
            <a:r>
              <a:rPr lang="en-GB" dirty="0"/>
              <a:t>)</a:t>
            </a:r>
          </a:p>
          <a:p>
            <a:r>
              <a:rPr lang="en-GB" dirty="0"/>
              <a:t>It is the standard database language for relational databases.</a:t>
            </a:r>
          </a:p>
          <a:p>
            <a:r>
              <a:rPr lang="en-GB" b="1" dirty="0"/>
              <a:t>SQL</a:t>
            </a:r>
            <a:r>
              <a:rPr lang="en-GB" dirty="0"/>
              <a:t> consists of </a:t>
            </a:r>
            <a:r>
              <a:rPr lang="en-GB" b="1" dirty="0"/>
              <a:t>two core functions</a:t>
            </a:r>
            <a:r>
              <a:rPr lang="en-GB" dirty="0"/>
              <a:t>:</a:t>
            </a:r>
          </a:p>
          <a:p>
            <a:pPr lvl="1"/>
            <a:r>
              <a:rPr lang="en-GB" b="1" dirty="0"/>
              <a:t>Data Definition Language (DDL)</a:t>
            </a:r>
            <a:r>
              <a:rPr lang="en-GB" dirty="0"/>
              <a:t> – for defining and creating the database objects.</a:t>
            </a:r>
          </a:p>
          <a:p>
            <a:pPr lvl="1"/>
            <a:r>
              <a:rPr lang="en-GB" b="1" dirty="0"/>
              <a:t>Data Manipulation Language (DML)</a:t>
            </a:r>
            <a:r>
              <a:rPr lang="en-GB" dirty="0"/>
              <a:t> – for manipulating and querying the data contained in the database, i.e., populating, reading, and updating the data in the tables.</a:t>
            </a:r>
          </a:p>
          <a:p>
            <a:pPr lvl="1"/>
            <a:endParaRPr lang="en-GB" dirty="0"/>
          </a:p>
          <a:p>
            <a:r>
              <a:rPr lang="en-GB" dirty="0"/>
              <a:t>Different DBMS variants exists. </a:t>
            </a:r>
            <a:r>
              <a:rPr lang="en-GB" b="1" dirty="0"/>
              <a:t>We will be using PostgreSQL</a:t>
            </a:r>
            <a:r>
              <a:rPr lang="en-GB" dirty="0"/>
              <a:t> for this module.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970B5-512A-B5ED-D1AD-2A0D428B4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128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85142-EBBD-CDB7-D099-503B3A6D5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GB" dirty="0"/>
              <a:t>Download PostgreSQL - </a:t>
            </a:r>
            <a:r>
              <a:rPr lang="en-GB" dirty="0" err="1"/>
              <a:t>pgAdmin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28192-1606-9FAD-33B5-6A5AEFB00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en-GB" dirty="0"/>
              <a:t>If you want just the </a:t>
            </a:r>
            <a:r>
              <a:rPr lang="en-GB" dirty="0" err="1"/>
              <a:t>pgAdmin</a:t>
            </a:r>
            <a:r>
              <a:rPr lang="en-GB" dirty="0"/>
              <a:t> Client (this is what I use during the lectures), download from:</a:t>
            </a:r>
          </a:p>
          <a:p>
            <a:r>
              <a:rPr lang="en-GB" dirty="0">
                <a:hlinkClick r:id="rId2"/>
              </a:rPr>
              <a:t>Download </a:t>
            </a:r>
            <a:r>
              <a:rPr lang="en-GB" dirty="0" err="1">
                <a:hlinkClick r:id="rId2"/>
              </a:rPr>
              <a:t>pgAdmin</a:t>
            </a:r>
            <a:endParaRPr lang="en-GB" dirty="0"/>
          </a:p>
          <a:p>
            <a:endParaRPr lang="en-GB" dirty="0"/>
          </a:p>
          <a:p>
            <a:r>
              <a:rPr lang="en-GB" b="1" dirty="0"/>
              <a:t>Note</a:t>
            </a:r>
            <a:r>
              <a:rPr lang="en-GB" dirty="0"/>
              <a:t>: You can also simply use </a:t>
            </a:r>
            <a:r>
              <a:rPr lang="en-GB" dirty="0">
                <a:hlinkClick r:id="rId3"/>
              </a:rPr>
              <a:t>Visual Studio Code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CEE78E-37AB-5A79-55BF-13366ED20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25" r="6258" b="5"/>
          <a:stretch>
            <a:fillRect/>
          </a:stretch>
        </p:blipFill>
        <p:spPr>
          <a:xfrm>
            <a:off x="8020589" y="1916318"/>
            <a:ext cx="3135070" cy="34710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A66A9-F69B-D6D7-EF83-DFB19990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96A34F1-7EE3-4CA4-B196-255978C82451}" type="slidenum">
              <a:rPr lang="en-GB" smtClean="0"/>
              <a:pPr>
                <a:spcAft>
                  <a:spcPts val="600"/>
                </a:spcAft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720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FBCB1-72BE-B5A2-F3E8-6485B220D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GB" dirty="0"/>
              <a:t>Download PostgreSQL – Full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EA96D-7A4A-5338-0411-9F817A5EB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en-GB" dirty="0"/>
              <a:t>If you want install a local PostgreSQL Database Server, download from:</a:t>
            </a:r>
          </a:p>
          <a:p>
            <a:r>
              <a:rPr lang="en-GB" dirty="0">
                <a:hlinkClick r:id="rId2"/>
              </a:rPr>
              <a:t>PostgreSQL: Downloads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33001F-1A07-098C-FE24-095E63E7E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65D98-3CAA-77F0-57EF-FBEA7A69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96A34F1-7EE3-4CA4-B196-255978C82451}" type="slidenum">
              <a:rPr lang="en-GB" smtClean="0"/>
              <a:pPr>
                <a:spcAft>
                  <a:spcPts val="600"/>
                </a:spcAft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451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A5E381-4275-E08C-547C-20572EE5A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Previous State: Logical Data Model</a:t>
            </a:r>
          </a:p>
        </p:txBody>
      </p:sp>
      <p:pic>
        <p:nvPicPr>
          <p:cNvPr id="6" name="Picture 5" descr="Diagram of logical data model ">
            <a:extLst>
              <a:ext uri="{FF2B5EF4-FFF2-40B4-BE49-F238E27FC236}">
                <a16:creationId xmlns:a16="http://schemas.microsoft.com/office/drawing/2014/main" id="{82D35CDF-DF7F-A978-7FD4-3A61B53B52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8" t="3049" r="3703" b="3324"/>
          <a:stretch/>
        </p:blipFill>
        <p:spPr bwMode="auto">
          <a:xfrm>
            <a:off x="452259" y="1917559"/>
            <a:ext cx="11287482" cy="431357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C9E8E-D692-ADAD-D594-A336FE7A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33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BAFBF-754E-47E9-B842-B260C0F4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Selection of Data Types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AB90363-E379-4E3C-AED4-A254AE2E25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397" cy="449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47026">
                  <a:extLst>
                    <a:ext uri="{9D8B030D-6E8A-4147-A177-3AD203B41FA5}">
                      <a16:colId xmlns:a16="http://schemas.microsoft.com/office/drawing/2014/main" val="3064472870"/>
                    </a:ext>
                  </a:extLst>
                </a:gridCol>
                <a:gridCol w="3176337">
                  <a:extLst>
                    <a:ext uri="{9D8B030D-6E8A-4147-A177-3AD203B41FA5}">
                      <a16:colId xmlns:a16="http://schemas.microsoft.com/office/drawing/2014/main" val="221796820"/>
                    </a:ext>
                  </a:extLst>
                </a:gridCol>
                <a:gridCol w="4935034">
                  <a:extLst>
                    <a:ext uri="{9D8B030D-6E8A-4147-A177-3AD203B41FA5}">
                      <a16:colId xmlns:a16="http://schemas.microsoft.com/office/drawing/2014/main" val="972516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33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CHAR (</a:t>
                      </a:r>
                      <a:r>
                        <a:rPr lang="en-GB" i="1" dirty="0"/>
                        <a:t>length</a:t>
                      </a:r>
                      <a:r>
                        <a:rPr lang="en-GB" dirty="0"/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VARCHAR (</a:t>
                      </a:r>
                      <a:r>
                        <a:rPr lang="en-GB" i="1" dirty="0"/>
                        <a:t>length</a:t>
                      </a:r>
                      <a:r>
                        <a:rPr lang="en-GB" dirty="0"/>
                        <a:t>)</a:t>
                      </a:r>
                    </a:p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Fixed Length</a:t>
                      </a:r>
                    </a:p>
                    <a:p>
                      <a:r>
                        <a:rPr lang="en-GB" dirty="0"/>
                        <a:t>Variable length (max)</a:t>
                      </a:r>
                    </a:p>
                    <a:p>
                      <a:r>
                        <a:rPr lang="en-GB" dirty="0"/>
                        <a:t>Variable length</a:t>
                      </a:r>
                    </a:p>
                    <a:p>
                      <a:endParaRPr lang="en-GB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69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INTEGER, SMALLINT</a:t>
                      </a:r>
                    </a:p>
                    <a:p>
                      <a:r>
                        <a:rPr lang="en-GB" dirty="0"/>
                        <a:t>OID</a:t>
                      </a:r>
                    </a:p>
                    <a:p>
                      <a:r>
                        <a:rPr lang="en-GB" dirty="0"/>
                        <a:t>NUMERIC </a:t>
                      </a:r>
                      <a:r>
                        <a:rPr lang="en-GB" i="1" dirty="0"/>
                        <a:t>(precision, decimal</a:t>
                      </a:r>
                      <a:r>
                        <a:rPr lang="en-GB" i="0" dirty="0"/>
                        <a:t>)</a:t>
                      </a:r>
                    </a:p>
                    <a:p>
                      <a:r>
                        <a:rPr lang="en-GB" i="0" dirty="0"/>
                        <a:t>FLOAT, 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Integer</a:t>
                      </a:r>
                    </a:p>
                    <a:p>
                      <a:r>
                        <a:rPr lang="en-GB" dirty="0"/>
                        <a:t>Object Identifier (</a:t>
                      </a:r>
                      <a:r>
                        <a:rPr lang="en-GB" i="1" dirty="0"/>
                        <a:t>not recommended for PKs</a:t>
                      </a:r>
                      <a:r>
                        <a:rPr lang="en-GB" dirty="0"/>
                        <a:t>)</a:t>
                      </a:r>
                    </a:p>
                    <a:p>
                      <a:r>
                        <a:rPr lang="en-GB" dirty="0"/>
                        <a:t>Number</a:t>
                      </a:r>
                    </a:p>
                    <a:p>
                      <a:r>
                        <a:rPr lang="en-GB" dirty="0"/>
                        <a:t>Floating-point number</a:t>
                      </a:r>
                    </a:p>
                    <a:p>
                      <a:endParaRPr lang="en-GB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509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DATE</a:t>
                      </a:r>
                    </a:p>
                    <a:p>
                      <a:r>
                        <a:rPr lang="en-GB" dirty="0"/>
                        <a:t>TIME</a:t>
                      </a:r>
                    </a:p>
                    <a:p>
                      <a:r>
                        <a:rPr lang="en-GB" dirty="0"/>
                        <a:t>TIMESTAMP</a:t>
                      </a:r>
                    </a:p>
                    <a:p>
                      <a:r>
                        <a:rPr lang="en-GB" dirty="0"/>
                        <a:t>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Date</a:t>
                      </a:r>
                    </a:p>
                    <a:p>
                      <a:r>
                        <a:rPr lang="en-GB" dirty="0"/>
                        <a:t>Time</a:t>
                      </a:r>
                    </a:p>
                    <a:p>
                      <a:r>
                        <a:rPr lang="en-GB" dirty="0"/>
                        <a:t>Date and time</a:t>
                      </a:r>
                    </a:p>
                    <a:p>
                      <a:r>
                        <a:rPr lang="en-GB" dirty="0"/>
                        <a:t>Interval of time</a:t>
                      </a:r>
                    </a:p>
                    <a:p>
                      <a:endParaRPr lang="en-GB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231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Logical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Boolean, i.e., true or false, yes or no, on or 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1761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9F0D4F0-32DD-4993-953E-6BC18FB3463C}"/>
              </a:ext>
            </a:extLst>
          </p:cNvPr>
          <p:cNvSpPr/>
          <p:nvPr/>
        </p:nvSpPr>
        <p:spPr>
          <a:xfrm rot="21420000">
            <a:off x="9095874" y="3958389"/>
            <a:ext cx="2514600" cy="72189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Never use FLOAT or DOUBLE for money!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B4815-A8A0-487D-8612-CB7CA6893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89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86642-A845-49F4-8EB0-94D254FE2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Never Use Float or Double for Money!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71E8C-0442-49AA-58D6-6F0581C0C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u="sng" dirty="0"/>
              <a:t>Never</a:t>
            </a:r>
            <a:r>
              <a:rPr lang="en-GB" dirty="0"/>
              <a:t> use Floating-point types, i.e., Real, Float, or Double, for money!</a:t>
            </a:r>
          </a:p>
          <a:p>
            <a:r>
              <a:rPr lang="en-GB" b="1" dirty="0"/>
              <a:t>Why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They are approximate (inexact) types.</a:t>
            </a:r>
          </a:p>
          <a:p>
            <a:pPr lvl="1"/>
            <a:r>
              <a:rPr lang="en-GB" dirty="0"/>
              <a:t>May result in discrepancies! Rounding errors.</a:t>
            </a:r>
          </a:p>
          <a:p>
            <a:r>
              <a:rPr lang="en-GB" dirty="0"/>
              <a:t>Use the </a:t>
            </a:r>
            <a:r>
              <a:rPr lang="en-GB" b="1" dirty="0"/>
              <a:t>Numeric</a:t>
            </a:r>
            <a:r>
              <a:rPr lang="en-GB" dirty="0"/>
              <a:t> type or the </a:t>
            </a:r>
            <a:r>
              <a:rPr lang="en-GB" b="1" dirty="0"/>
              <a:t>DBMS’s monetary type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PostgreSQL has a </a:t>
            </a:r>
            <a:r>
              <a:rPr lang="en-GB" b="1" dirty="0"/>
              <a:t>money</a:t>
            </a:r>
            <a:r>
              <a:rPr lang="en-GB" dirty="0"/>
              <a:t> type (</a:t>
            </a:r>
            <a:r>
              <a:rPr lang="en-GB" dirty="0">
                <a:hlinkClick r:id="rId3"/>
              </a:rPr>
              <a:t>PostgreSQL: Documentation: 16: 8.2. Monetary Types</a:t>
            </a:r>
            <a:r>
              <a:rPr lang="en-GB" dirty="0"/>
              <a:t>).</a:t>
            </a:r>
          </a:p>
          <a:p>
            <a:endParaRPr lang="en-GB" dirty="0"/>
          </a:p>
          <a:p>
            <a:r>
              <a:rPr lang="en-GB" dirty="0"/>
              <a:t>Full list of data types:</a:t>
            </a:r>
          </a:p>
          <a:p>
            <a:pPr lvl="1"/>
            <a:r>
              <a:rPr lang="fr-FR" dirty="0">
                <a:hlinkClick r:id="rId4"/>
              </a:rPr>
              <a:t>PostgreSQL: Documentation: 17: </a:t>
            </a:r>
            <a:r>
              <a:rPr lang="fr-FR" dirty="0" err="1">
                <a:hlinkClick r:id="rId4"/>
              </a:rPr>
              <a:t>Chapter</a:t>
            </a:r>
            <a:r>
              <a:rPr lang="fr-FR" dirty="0">
                <a:hlinkClick r:id="rId4"/>
              </a:rPr>
              <a:t> 8. Data Types</a:t>
            </a:r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21065-3099-02F2-5109-FE3AE1CF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30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4133A-5949-4EF2-A534-494979CEB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Tables with SQL</a:t>
            </a:r>
            <a:br>
              <a:rPr lang="en-GB" dirty="0"/>
            </a:br>
            <a:r>
              <a:rPr lang="en-GB" sz="4000" dirty="0"/>
              <a:t>Defining Columns (Attributes) in a Table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5FA76-F04B-414E-9602-A2826449F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GB" dirty="0"/>
              <a:t>You define an attribute (column) for a table by specifying:</a:t>
            </a:r>
          </a:p>
          <a:p>
            <a:pPr lvl="1"/>
            <a:r>
              <a:rPr lang="en-GB" b="1" dirty="0" err="1"/>
              <a:t>column_name</a:t>
            </a:r>
            <a:r>
              <a:rPr lang="en-GB" dirty="0"/>
              <a:t>: the name of the attribute in the table</a:t>
            </a:r>
          </a:p>
          <a:p>
            <a:pPr lvl="1"/>
            <a:r>
              <a:rPr lang="en-GB" b="1" dirty="0" err="1"/>
              <a:t>data_type</a:t>
            </a:r>
            <a:r>
              <a:rPr lang="en-GB" dirty="0"/>
              <a:t>: the type of data the attribute can store</a:t>
            </a:r>
          </a:p>
          <a:p>
            <a:pPr lvl="1"/>
            <a:r>
              <a:rPr lang="en-GB" b="1" dirty="0"/>
              <a:t>size</a:t>
            </a:r>
            <a:r>
              <a:rPr lang="en-GB" dirty="0"/>
              <a:t>: maximum length of the data it can store (</a:t>
            </a:r>
            <a:r>
              <a:rPr lang="en-GB" i="1" dirty="0"/>
              <a:t>optional</a:t>
            </a:r>
            <a:r>
              <a:rPr lang="en-GB" dirty="0"/>
              <a:t>)</a:t>
            </a:r>
          </a:p>
          <a:p>
            <a:pPr marL="365760" lvl="1" indent="0" algn="ctr">
              <a:buNone/>
            </a:pPr>
            <a:r>
              <a:rPr lang="en-GB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column_name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GB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data_type</a:t>
            </a:r>
            <a:r>
              <a:rPr lang="en-GB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</a:t>
            </a:r>
            <a:r>
              <a:rPr lang="en-GB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GB" dirty="0"/>
          </a:p>
          <a:p>
            <a:r>
              <a:rPr lang="en-GB" dirty="0"/>
              <a:t>Examples:</a:t>
            </a:r>
          </a:p>
          <a:p>
            <a:pPr lvl="1"/>
            <a:r>
              <a:rPr lang="en-GB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Student_ID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GB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GB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GB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GB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1"/>
            <a:r>
              <a:rPr lang="en-GB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Street_Address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GB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VARCHAR</a:t>
            </a:r>
            <a:r>
              <a:rPr lang="en-GB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100</a:t>
            </a:r>
            <a:r>
              <a:rPr lang="en-GB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GB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1"/>
            <a:r>
              <a:rPr lang="en-GB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Is_Active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GB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BOOLEAN</a:t>
            </a:r>
            <a:endParaRPr lang="en-GB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1"/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Salary		</a:t>
            </a:r>
            <a:r>
              <a:rPr lang="en-GB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DECIMAL</a:t>
            </a:r>
            <a:r>
              <a:rPr lang="en-GB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en-GB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GB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GB" dirty="0"/>
          </a:p>
          <a:p>
            <a:r>
              <a:rPr lang="en-GB" i="1" dirty="0"/>
              <a:t>If size is omitted, the default size for the data type will be used.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AE2CF-52CF-47E2-B9CA-315D84CB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62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FDCA6-0880-3FE9-CF9C-B89CBF928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Logical Model to Physical Model</a:t>
            </a:r>
            <a:br>
              <a:rPr lang="en-GB" dirty="0"/>
            </a:br>
            <a:r>
              <a:rPr lang="en-GB" sz="4000" dirty="0"/>
              <a:t>Data Types (1)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5ED5B-D39D-7CDB-28E9-EEA2D34B0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83217"/>
          </a:xfrm>
        </p:spPr>
        <p:txBody>
          <a:bodyPr>
            <a:normAutofit lnSpcReduction="10000"/>
          </a:bodyPr>
          <a:lstStyle/>
          <a:p>
            <a:r>
              <a:rPr lang="en-GB" dirty="0"/>
              <a:t>Decide on </a:t>
            </a:r>
            <a:r>
              <a:rPr lang="en-GB" b="1" dirty="0"/>
              <a:t>data types</a:t>
            </a:r>
            <a:r>
              <a:rPr lang="en-GB" dirty="0"/>
              <a:t>:</a:t>
            </a:r>
          </a:p>
          <a:p>
            <a:r>
              <a:rPr lang="nl-NL" dirty="0"/>
              <a:t>Staff (</a:t>
            </a:r>
            <a:r>
              <a:rPr lang="nl-NL" b="1" u="sng" dirty="0"/>
              <a:t>Staff_ID</a:t>
            </a:r>
            <a:r>
              <a:rPr lang="nl-NL" dirty="0"/>
              <a:t>, Name)</a:t>
            </a:r>
          </a:p>
          <a:p>
            <a:pPr lvl="1"/>
            <a:r>
              <a:rPr lang="nl-NL" dirty="0"/>
              <a:t>Staff_ID:	INT</a:t>
            </a:r>
          </a:p>
          <a:p>
            <a:pPr lvl="1"/>
            <a:r>
              <a:rPr lang="nl-NL" dirty="0"/>
              <a:t>Name:	VARCHAR(100)</a:t>
            </a:r>
          </a:p>
          <a:p>
            <a:pPr lvl="1"/>
            <a:r>
              <a:rPr lang="en-GB" dirty="0"/>
              <a:t>…</a:t>
            </a:r>
          </a:p>
          <a:p>
            <a:r>
              <a:rPr lang="nl-NL" dirty="0"/>
              <a:t>UG (</a:t>
            </a:r>
            <a:r>
              <a:rPr lang="nl-NL" b="1" u="sng" dirty="0"/>
              <a:t>Student_ID</a:t>
            </a:r>
            <a:r>
              <a:rPr lang="nl-NL" dirty="0"/>
              <a:t>, Name, Login, Stage, DOB, </a:t>
            </a:r>
            <a:r>
              <a:rPr lang="nl-NL" i="1" dirty="0"/>
              <a:t>Tutor</a:t>
            </a:r>
            <a:r>
              <a:rPr lang="nl-NL" dirty="0"/>
              <a:t>)</a:t>
            </a:r>
          </a:p>
          <a:p>
            <a:pPr lvl="1"/>
            <a:r>
              <a:rPr lang="nl-NL" dirty="0"/>
              <a:t>Student_ID:	CHAR(8)</a:t>
            </a:r>
          </a:p>
          <a:p>
            <a:pPr lvl="1"/>
            <a:r>
              <a:rPr lang="nl-NL" dirty="0"/>
              <a:t>Login:	VARCHAR(10)</a:t>
            </a:r>
          </a:p>
          <a:p>
            <a:pPr lvl="1"/>
            <a:r>
              <a:rPr lang="nl-NL" dirty="0"/>
              <a:t>Name:	VARCHAR(100)</a:t>
            </a:r>
          </a:p>
          <a:p>
            <a:pPr lvl="1"/>
            <a:r>
              <a:rPr lang="nl-NL" dirty="0"/>
              <a:t>Stage:	VARCHAR(10)</a:t>
            </a:r>
          </a:p>
          <a:p>
            <a:pPr lvl="1"/>
            <a:r>
              <a:rPr lang="nl-NL" dirty="0"/>
              <a:t>DOB:	DATE</a:t>
            </a:r>
          </a:p>
          <a:p>
            <a:pPr lvl="1"/>
            <a:r>
              <a:rPr lang="nl-NL" dirty="0"/>
              <a:t>Tutor:	</a:t>
            </a:r>
            <a:r>
              <a:rPr lang="nl-NL" b="1" dirty="0">
                <a:solidFill>
                  <a:srgbClr val="C00000"/>
                </a:solidFill>
              </a:rPr>
              <a:t>???</a:t>
            </a:r>
          </a:p>
          <a:p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099D2A7-9B34-BBCA-B86D-4E8841C70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5137" y="4359119"/>
            <a:ext cx="1104498" cy="11044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0529AA-5604-2560-E3B1-E1468415CD56}"/>
              </a:ext>
            </a:extLst>
          </p:cNvPr>
          <p:cNvSpPr/>
          <p:nvPr/>
        </p:nvSpPr>
        <p:spPr>
          <a:xfrm>
            <a:off x="7103446" y="4558572"/>
            <a:ext cx="4052234" cy="784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2000" b="1" dirty="0"/>
              <a:t>What do we need to consider for the data type for ‘Tutor’ in UG?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947F8-F5BB-F612-7E31-FBC4749B3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83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FDCA6-0880-3FE9-CF9C-B89CBF928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Logical Model to Physical Model</a:t>
            </a:r>
            <a:br>
              <a:rPr lang="en-GB" dirty="0"/>
            </a:br>
            <a:r>
              <a:rPr lang="en-GB" sz="4000" dirty="0"/>
              <a:t>Data Types (2)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5ED5B-D39D-7CDB-28E9-EEA2D34B0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6971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Decide on </a:t>
            </a:r>
            <a:r>
              <a:rPr lang="en-GB" b="1" dirty="0"/>
              <a:t>data types</a:t>
            </a:r>
            <a:r>
              <a:rPr lang="en-GB" dirty="0"/>
              <a:t>:</a:t>
            </a:r>
          </a:p>
          <a:p>
            <a:r>
              <a:rPr lang="nl-NL" dirty="0"/>
              <a:t>Staff (</a:t>
            </a:r>
            <a:r>
              <a:rPr lang="nl-NL" b="1" u="sng" dirty="0"/>
              <a:t>Staff_ID</a:t>
            </a:r>
            <a:r>
              <a:rPr lang="nl-NL" dirty="0"/>
              <a:t>, Name)</a:t>
            </a:r>
          </a:p>
          <a:p>
            <a:pPr lvl="1"/>
            <a:r>
              <a:rPr lang="nl-NL" dirty="0"/>
              <a:t>Staff_ID:	</a:t>
            </a:r>
            <a:r>
              <a:rPr lang="nl-NL" b="1" dirty="0">
                <a:solidFill>
                  <a:srgbClr val="C00000"/>
                </a:solidFill>
              </a:rPr>
              <a:t>INT</a:t>
            </a:r>
          </a:p>
          <a:p>
            <a:pPr lvl="1"/>
            <a:r>
              <a:rPr lang="nl-NL" dirty="0"/>
              <a:t>Name:	VARCHAR(100)</a:t>
            </a:r>
          </a:p>
          <a:p>
            <a:pPr lvl="1"/>
            <a:r>
              <a:rPr lang="en-GB" dirty="0"/>
              <a:t>…</a:t>
            </a:r>
          </a:p>
          <a:p>
            <a:r>
              <a:rPr lang="nl-NL" dirty="0"/>
              <a:t>UG (</a:t>
            </a:r>
            <a:r>
              <a:rPr lang="nl-NL" b="1" u="sng" dirty="0"/>
              <a:t>Student_ID</a:t>
            </a:r>
            <a:r>
              <a:rPr lang="nl-NL" dirty="0"/>
              <a:t>, Name, Login, Stage, DOB, </a:t>
            </a:r>
            <a:r>
              <a:rPr lang="nl-NL" i="1" dirty="0"/>
              <a:t>Tutor</a:t>
            </a:r>
            <a:r>
              <a:rPr lang="nl-NL" dirty="0"/>
              <a:t>)</a:t>
            </a:r>
          </a:p>
          <a:p>
            <a:pPr lvl="1"/>
            <a:r>
              <a:rPr lang="nl-NL" dirty="0"/>
              <a:t>Student_ID:	CHAR(8)</a:t>
            </a:r>
          </a:p>
          <a:p>
            <a:pPr lvl="1"/>
            <a:r>
              <a:rPr lang="nl-NL" dirty="0"/>
              <a:t>Login:	VARCHAR(10)</a:t>
            </a:r>
          </a:p>
          <a:p>
            <a:pPr lvl="1"/>
            <a:r>
              <a:rPr lang="nl-NL" dirty="0"/>
              <a:t>Name:	VARCHAR(100)</a:t>
            </a:r>
          </a:p>
          <a:p>
            <a:pPr lvl="1"/>
            <a:r>
              <a:rPr lang="nl-NL" dirty="0"/>
              <a:t>Stage:	VARCHAR(10)</a:t>
            </a:r>
          </a:p>
          <a:p>
            <a:pPr lvl="1"/>
            <a:r>
              <a:rPr lang="nl-NL" dirty="0"/>
              <a:t>DOB:	DATE</a:t>
            </a:r>
          </a:p>
          <a:p>
            <a:pPr lvl="1"/>
            <a:r>
              <a:rPr lang="nl-NL" dirty="0"/>
              <a:t>Tutor:	</a:t>
            </a:r>
            <a:r>
              <a:rPr lang="nl-NL" b="1" dirty="0">
                <a:solidFill>
                  <a:srgbClr val="C00000"/>
                </a:solidFill>
              </a:rPr>
              <a:t>INT</a:t>
            </a:r>
          </a:p>
          <a:p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099D2A7-9B34-BBCA-B86D-4E8841C70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5137" y="4359119"/>
            <a:ext cx="1104498" cy="11044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0529AA-5604-2560-E3B1-E1468415CD56}"/>
              </a:ext>
            </a:extLst>
          </p:cNvPr>
          <p:cNvSpPr/>
          <p:nvPr/>
        </p:nvSpPr>
        <p:spPr>
          <a:xfrm>
            <a:off x="7103446" y="4558572"/>
            <a:ext cx="4052234" cy="784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2000" dirty="0"/>
              <a:t>What do we need to consider for the data type for ‘Tutor’ in UG?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A134E0-FD4E-55F5-9CA1-12A8C9BAE2E6}"/>
              </a:ext>
            </a:extLst>
          </p:cNvPr>
          <p:cNvSpPr/>
          <p:nvPr/>
        </p:nvSpPr>
        <p:spPr>
          <a:xfrm>
            <a:off x="7103446" y="5276403"/>
            <a:ext cx="4052234" cy="784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2000" b="1" dirty="0"/>
              <a:t>Tutor’s data type must match the type and size of StaffID in Staff.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E32B36-DB76-949C-4BE2-C7C1C612DFE6}"/>
              </a:ext>
            </a:extLst>
          </p:cNvPr>
          <p:cNvSpPr txBox="1"/>
          <p:nvPr/>
        </p:nvSpPr>
        <p:spPr>
          <a:xfrm>
            <a:off x="1097280" y="6046859"/>
            <a:ext cx="8478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Foreign keys must match the data type and size of the parent primary key they reference.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08461C-B076-0FB2-490A-8AA99F898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6" t="11487" r="5840" b="8266"/>
          <a:stretch/>
        </p:blipFill>
        <p:spPr bwMode="auto">
          <a:xfrm>
            <a:off x="6999834" y="1622815"/>
            <a:ext cx="5126725" cy="1222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947F8-F5BB-F612-7E31-FBC4749B3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229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C0DBD-9EAB-4385-B4D4-86456AF7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Tables with SQL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E7828-D325-4931-B35D-013F74FA0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839272"/>
          </a:xfrm>
        </p:spPr>
        <p:txBody>
          <a:bodyPr>
            <a:normAutofit fontScale="92500" lnSpcReduction="20000"/>
          </a:bodyPr>
          <a:lstStyle/>
          <a:p>
            <a:pPr marL="566928" lvl="3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Staff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66928" lvl="3" indent="0">
              <a:buNone/>
            </a:pP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Staff_ID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66928" lvl="3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	Name		VARCHAR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50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pPr marL="566928" lvl="3" indent="0">
              <a:buNone/>
            </a:pP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…</a:t>
            </a:r>
          </a:p>
          <a:p>
            <a:pPr marL="566928" lvl="3" indent="0">
              <a:buNone/>
            </a:pP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sz="2200" dirty="0"/>
          </a:p>
          <a:p>
            <a:endParaRPr lang="en-GB" dirty="0"/>
          </a:p>
          <a:p>
            <a:pPr marL="475488" lvl="2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UG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Student_ID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8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	Login		VARCHAR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	Name		VARCHAR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Stage		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DOB		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DATE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Tutor		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</a:p>
          <a:p>
            <a:pPr marL="475488" lvl="2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	Degree		VARCHAR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(10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sz="2200" dirty="0"/>
          </a:p>
          <a:p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36FF6F-AF14-4536-9474-7207672AC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4589" y="2018738"/>
            <a:ext cx="1104498" cy="11044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CED12C-7C09-4D44-8B62-8444407AA453}"/>
              </a:ext>
            </a:extLst>
          </p:cNvPr>
          <p:cNvSpPr/>
          <p:nvPr/>
        </p:nvSpPr>
        <p:spPr>
          <a:xfrm>
            <a:off x="7822898" y="2338956"/>
            <a:ext cx="3291838" cy="784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2000" b="1" dirty="0"/>
              <a:t>Is the order in which you create the tables important?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4C184-EA1D-42B8-98B4-C6A34F935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48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C0DBD-9EAB-4385-B4D4-86456AF7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Tables with SQL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E7828-D325-4931-B35D-013F74FA0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4"/>
          </a:xfrm>
        </p:spPr>
        <p:txBody>
          <a:bodyPr>
            <a:normAutofit fontScale="92500" lnSpcReduction="20000"/>
          </a:bodyPr>
          <a:lstStyle/>
          <a:p>
            <a:pPr marL="566928" lvl="3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Staff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66928" lvl="3" indent="0">
              <a:buNone/>
            </a:pP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200" dirty="0" err="1">
                <a:solidFill>
                  <a:srgbClr val="C00000"/>
                </a:solidFill>
                <a:latin typeface="Consolas" panose="020B0609020204030204" pitchFamily="49" charset="0"/>
              </a:rPr>
              <a:t>Staff_ID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66928" lvl="3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	Name		VARCHAR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50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pPr marL="566928" lvl="3" indent="0">
              <a:buNone/>
            </a:pP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…</a:t>
            </a:r>
          </a:p>
          <a:p>
            <a:pPr marL="566928" lvl="3" indent="0">
              <a:buNone/>
            </a:pP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sz="2200" dirty="0"/>
          </a:p>
          <a:p>
            <a:endParaRPr lang="en-GB" dirty="0"/>
          </a:p>
          <a:p>
            <a:pPr marL="475488" lvl="2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UG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Student_ID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8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	Login		VARCHAR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	Name		VARCHAR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50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Stage		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DOB		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DATE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200" dirty="0">
                <a:solidFill>
                  <a:srgbClr val="C00000"/>
                </a:solidFill>
                <a:latin typeface="Consolas" panose="020B0609020204030204" pitchFamily="49" charset="0"/>
              </a:rPr>
              <a:t>Tutor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 ,</a:t>
            </a:r>
          </a:p>
          <a:p>
            <a:pPr marL="475488" lvl="2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	Degree		VARCHAR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(10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sz="2200" dirty="0"/>
          </a:p>
          <a:p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36FF6F-AF14-4536-9474-7207672AC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8730" y="2024476"/>
            <a:ext cx="1104498" cy="11044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CED12C-7C09-4D44-8B62-8444407AA453}"/>
              </a:ext>
            </a:extLst>
          </p:cNvPr>
          <p:cNvSpPr/>
          <p:nvPr/>
        </p:nvSpPr>
        <p:spPr>
          <a:xfrm>
            <a:off x="7807039" y="2344694"/>
            <a:ext cx="3291838" cy="784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2000" dirty="0"/>
              <a:t>Is the order in which you create the tables important?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96A1FE-2C7F-9671-34BA-EB480A9DAD90}"/>
              </a:ext>
            </a:extLst>
          </p:cNvPr>
          <p:cNvSpPr/>
          <p:nvPr/>
        </p:nvSpPr>
        <p:spPr>
          <a:xfrm>
            <a:off x="7807039" y="3167115"/>
            <a:ext cx="3291838" cy="784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2000" b="1" dirty="0"/>
              <a:t>Yes, parent tables before child tables (tables with FKs).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162523-8758-3228-9EAF-8B398218FA3D}"/>
              </a:ext>
            </a:extLst>
          </p:cNvPr>
          <p:cNvSpPr/>
          <p:nvPr/>
        </p:nvSpPr>
        <p:spPr>
          <a:xfrm>
            <a:off x="7808800" y="4084976"/>
            <a:ext cx="3291838" cy="784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2000" b="1" dirty="0">
                <a:solidFill>
                  <a:srgbClr val="C00000"/>
                </a:solidFill>
              </a:rPr>
              <a:t>Tutor</a:t>
            </a:r>
            <a:r>
              <a:rPr lang="en-GB" sz="2000" dirty="0"/>
              <a:t> in UG is a </a:t>
            </a:r>
            <a:r>
              <a:rPr lang="en-GB" sz="2000" b="1" dirty="0"/>
              <a:t>FK referencing </a:t>
            </a:r>
            <a:r>
              <a:rPr lang="en-GB" sz="2000" b="1" dirty="0" err="1">
                <a:solidFill>
                  <a:srgbClr val="C00000"/>
                </a:solidFill>
              </a:rPr>
              <a:t>Staff_ID</a:t>
            </a:r>
            <a:r>
              <a:rPr lang="en-GB" sz="2000" b="1" dirty="0">
                <a:solidFill>
                  <a:srgbClr val="C00000"/>
                </a:solidFill>
              </a:rPr>
              <a:t> </a:t>
            </a:r>
            <a:r>
              <a:rPr lang="en-GB" sz="2000" dirty="0"/>
              <a:t>in Staff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4C184-EA1D-42B8-98B4-C6A34F935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3655" y="4194257"/>
            <a:ext cx="1312025" cy="365125"/>
          </a:xfrm>
        </p:spPr>
        <p:txBody>
          <a:bodyPr/>
          <a:lstStyle/>
          <a:p>
            <a:fld id="{A96A34F1-7EE3-4CA4-B196-255978C82451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3390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E220058-3FCE-496E-ADF2-D8A6961F3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93F809-7E50-4AAD-8E26-878207931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44603" y="4325112"/>
            <a:ext cx="71323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40E0C588-794F-5A4A-F33F-38B023AFC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504" y="758952"/>
            <a:ext cx="7319175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Homework (1)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C84BA0-AF1E-FC59-5E73-50FDB12D8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6504" y="4455620"/>
            <a:ext cx="7321946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cap="all" spc="200" dirty="0">
                <a:solidFill>
                  <a:schemeClr val="tx2"/>
                </a:solidFill>
                <a:latin typeface="+mj-lt"/>
              </a:rPr>
              <a:t>Read the next two slides on naming conventions in SQL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4D84BF-3C82-9E5B-5A42-7511DC635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18" y="1944907"/>
            <a:ext cx="2449486" cy="244948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E9C5090-7D25-41E3-A6D3-CCAEE505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BF8809-0DAC-41E5-A212-ACB4A01BE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900842-3859-1A15-E659-291C2388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A96A34F1-7EE3-4CA4-B196-255978C82451}" type="slidenum">
              <a:rPr lang="en-US" smtClean="0"/>
              <a:pPr defTabSz="914400"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05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BEC9BC-804E-D3C9-6456-E11EAC44A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Naming Conventions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374071-C229-9AB7-9959-EAEFD7B01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Be consistent!</a:t>
            </a:r>
          </a:p>
          <a:p>
            <a:pPr lvl="1"/>
            <a:r>
              <a:rPr lang="en-GB" dirty="0"/>
              <a:t>That’s what’s most important</a:t>
            </a:r>
          </a:p>
          <a:p>
            <a:r>
              <a:rPr lang="en-GB" dirty="0"/>
              <a:t>A </a:t>
            </a:r>
            <a:r>
              <a:rPr lang="en-GB" b="1" dirty="0"/>
              <a:t>popular recommendation is that you use </a:t>
            </a:r>
            <a:r>
              <a:rPr lang="en-GB" b="1" dirty="0" err="1"/>
              <a:t>snake_case</a:t>
            </a:r>
            <a:r>
              <a:rPr lang="en-GB" b="1" dirty="0"/>
              <a:t> in SQL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Separate words using an underscore _, and all in lowercase</a:t>
            </a:r>
          </a:p>
          <a:p>
            <a:pPr lvl="1"/>
            <a:r>
              <a:rPr lang="en-GB" dirty="0"/>
              <a:t>E.g. </a:t>
            </a:r>
            <a:r>
              <a:rPr lang="en-GB" dirty="0" err="1"/>
              <a:t>module_code</a:t>
            </a:r>
            <a:r>
              <a:rPr lang="en-GB" dirty="0"/>
              <a:t>, </a:t>
            </a:r>
            <a:r>
              <a:rPr lang="en-GB" dirty="0" err="1"/>
              <a:t>staff_id</a:t>
            </a:r>
            <a:r>
              <a:rPr lang="en-GB" dirty="0"/>
              <a:t>, </a:t>
            </a:r>
            <a:r>
              <a:rPr lang="en-GB" dirty="0" err="1"/>
              <a:t>module_registration</a:t>
            </a:r>
            <a:r>
              <a:rPr lang="en-GB" dirty="0"/>
              <a:t>, </a:t>
            </a:r>
            <a:r>
              <a:rPr lang="en-GB" dirty="0" err="1"/>
              <a:t>teaching_assignment</a:t>
            </a:r>
            <a:r>
              <a:rPr lang="en-GB" dirty="0"/>
              <a:t>, etc.</a:t>
            </a:r>
          </a:p>
          <a:p>
            <a:r>
              <a:rPr lang="en-GB" dirty="0"/>
              <a:t>Why </a:t>
            </a:r>
            <a:r>
              <a:rPr lang="en-GB" dirty="0" err="1"/>
              <a:t>snake_case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Some DBMSs (e.g., PostgreSQL, Oracle) automatically covert data object names (tables, columns, etc.) to lowercase (the case is not retained)</a:t>
            </a:r>
          </a:p>
          <a:p>
            <a:pPr lvl="1"/>
            <a:r>
              <a:rPr lang="en-GB" dirty="0"/>
              <a:t>This can make it difficult to read the names of tables, columns, etc.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0F1633-48C5-9363-8496-FF72489BD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76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69A87-3411-DC0C-7BEE-DDA219087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 Naming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7A693-2E66-F4F2-5297-3FDEC63DA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Read more:</a:t>
            </a:r>
          </a:p>
          <a:p>
            <a:r>
              <a:rPr lang="en-GB" dirty="0">
                <a:hlinkClick r:id="rId2"/>
              </a:rPr>
              <a:t>SQL Best Practices and Style Guide - Database Star</a:t>
            </a:r>
            <a:endParaRPr lang="en-GB" dirty="0"/>
          </a:p>
          <a:p>
            <a:r>
              <a:rPr lang="en-GB" dirty="0">
                <a:hlinkClick r:id="rId3"/>
              </a:rPr>
              <a:t>SQL Naming Conventions (2024 Tutorial &amp; Examples) | </a:t>
            </a:r>
            <a:r>
              <a:rPr lang="en-GB" dirty="0" err="1">
                <a:hlinkClick r:id="rId3"/>
              </a:rPr>
              <a:t>BrainStation</a:t>
            </a:r>
            <a:r>
              <a:rPr lang="en-GB" dirty="0">
                <a:hlinkClick r:id="rId3"/>
              </a:rPr>
              <a:t>®</a:t>
            </a:r>
            <a:endParaRPr lang="en-GB" dirty="0"/>
          </a:p>
          <a:p>
            <a:r>
              <a:rPr lang="en-GB" dirty="0">
                <a:hlinkClick r:id="rId4"/>
              </a:rPr>
              <a:t>SQL style guide by Simon Holywell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7E835-AD36-1F7F-E830-B07CAC9E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552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080DF-2D2C-476C-949E-CD4641916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Tables</a:t>
            </a:r>
            <a:br>
              <a:rPr lang="en-GB" dirty="0"/>
            </a:br>
            <a:r>
              <a:rPr lang="en-GB" sz="4000" dirty="0"/>
              <a:t>But We Also Had Constraints!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5E30B-9C97-4F9F-832F-EF2388C0D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Staff (</a:t>
            </a:r>
            <a:r>
              <a:rPr lang="nl-NL" b="1" u="sng" dirty="0"/>
              <a:t>Staff_ID</a:t>
            </a:r>
            <a:r>
              <a:rPr lang="nl-NL" dirty="0"/>
              <a:t>, Name, ...)</a:t>
            </a:r>
          </a:p>
          <a:p>
            <a:pPr lvl="1"/>
            <a:r>
              <a:rPr lang="nl-NL" dirty="0"/>
              <a:t>Name must be specified - cannot be null</a:t>
            </a:r>
            <a:endParaRPr lang="en-GB" dirty="0"/>
          </a:p>
          <a:p>
            <a:r>
              <a:rPr lang="nl-NL" dirty="0"/>
              <a:t>UG (</a:t>
            </a:r>
            <a:r>
              <a:rPr lang="nl-NL" b="1" u="sng" dirty="0"/>
              <a:t>Student_ID</a:t>
            </a:r>
            <a:r>
              <a:rPr lang="nl-NL" dirty="0"/>
              <a:t>, Name, Login, Stage, DOB, </a:t>
            </a:r>
            <a:r>
              <a:rPr lang="nl-NL" i="1" dirty="0"/>
              <a:t>Tutor</a:t>
            </a:r>
            <a:r>
              <a:rPr lang="nl-NL" dirty="0"/>
              <a:t> {FK}, Degree)</a:t>
            </a:r>
          </a:p>
          <a:p>
            <a:pPr lvl="1"/>
            <a:r>
              <a:rPr lang="nl-NL" dirty="0"/>
              <a:t>Login is a candidate key:</a:t>
            </a:r>
          </a:p>
          <a:p>
            <a:pPr lvl="2"/>
            <a:r>
              <a:rPr lang="nl-NL" sz="1800" dirty="0"/>
              <a:t>It cannot be null, and</a:t>
            </a:r>
          </a:p>
          <a:p>
            <a:pPr lvl="2"/>
            <a:r>
              <a:rPr lang="nl-NL" sz="1800" dirty="0"/>
              <a:t>Must be unique </a:t>
            </a:r>
          </a:p>
          <a:p>
            <a:pPr lvl="1"/>
            <a:r>
              <a:rPr lang="nl-NL" dirty="0"/>
              <a:t>Name must be provided – cannot be null</a:t>
            </a:r>
          </a:p>
          <a:p>
            <a:pPr lvl="1"/>
            <a:r>
              <a:rPr lang="nl-NL" dirty="0"/>
              <a:t>Stage: ‘0’, ‘1’, ..., ‘5’, ‘Placement’, ‘Year In’</a:t>
            </a:r>
          </a:p>
          <a:p>
            <a:pPr lvl="1"/>
            <a:r>
              <a:rPr lang="nl-NL" dirty="0"/>
              <a:t>DOB: Date (must be at least 17)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31ECDC-4EC9-40B0-A534-62795336F40C}"/>
              </a:ext>
            </a:extLst>
          </p:cNvPr>
          <p:cNvSpPr/>
          <p:nvPr/>
        </p:nvSpPr>
        <p:spPr>
          <a:xfrm rot="21420000">
            <a:off x="9096014" y="5082643"/>
            <a:ext cx="2311428" cy="72189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Need to represent these too!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6C36A-79D8-42AF-A93D-82BAB6E9E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37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6C23D-8350-187D-840C-22312BBC3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6AB51-8F29-00FD-91C0-2FAD3CCFE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GB" dirty="0"/>
              <a:t>Logical Model Constraints: </a:t>
            </a:r>
            <a:br>
              <a:rPr lang="en-GB" dirty="0"/>
            </a:br>
            <a:r>
              <a:rPr lang="en-GB" sz="4000" dirty="0"/>
              <a:t>Question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9C6FA-C14B-5559-9647-77654C965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en-GB" dirty="0"/>
              <a:t>The relational schema for both staff and student:</a:t>
            </a:r>
          </a:p>
          <a:p>
            <a:pPr lvl="1"/>
            <a:r>
              <a:rPr lang="nl-NL" dirty="0"/>
              <a:t>Staff (</a:t>
            </a:r>
            <a:r>
              <a:rPr lang="nl-NL" b="1" u="sng" dirty="0"/>
              <a:t>Staff_ID</a:t>
            </a:r>
            <a:r>
              <a:rPr lang="nl-NL" dirty="0"/>
              <a:t> {PK}, Name, ...)</a:t>
            </a:r>
          </a:p>
          <a:p>
            <a:pPr lvl="1"/>
            <a:r>
              <a:rPr lang="nl-NL" dirty="0"/>
              <a:t>UG (</a:t>
            </a:r>
            <a:r>
              <a:rPr lang="nl-NL" b="1" u="sng" dirty="0"/>
              <a:t>Student_ID</a:t>
            </a:r>
            <a:r>
              <a:rPr lang="nl-NL" dirty="0"/>
              <a:t> {PK}, Name, Login, Stage, DOB, </a:t>
            </a:r>
            <a:r>
              <a:rPr lang="nl-NL" i="1" dirty="0"/>
              <a:t>Tutor</a:t>
            </a:r>
            <a:r>
              <a:rPr lang="nl-NL" dirty="0"/>
              <a:t> {FK}, Degree)</a:t>
            </a:r>
          </a:p>
          <a:p>
            <a:endParaRPr lang="en-GB" dirty="0"/>
          </a:p>
          <a:p>
            <a:r>
              <a:rPr lang="en-GB" dirty="0"/>
              <a:t>Why not also specify that </a:t>
            </a:r>
            <a:r>
              <a:rPr lang="en-GB" b="1" u="sng" dirty="0" err="1"/>
              <a:t>Staff_ID</a:t>
            </a:r>
            <a:r>
              <a:rPr lang="en-GB" dirty="0"/>
              <a:t> and </a:t>
            </a:r>
            <a:r>
              <a:rPr lang="en-GB" b="1" u="sng" dirty="0" err="1"/>
              <a:t>Student_ID</a:t>
            </a:r>
            <a:r>
              <a:rPr lang="en-GB" dirty="0"/>
              <a:t> are unique and not null?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EAB65D-B5FD-BC47-846A-CFB821A61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3D89B-3EA7-F04C-BB79-E51A79802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96A34F1-7EE3-4CA4-B196-255978C82451}" type="slidenum">
              <a:rPr lang="en-GB" smtClean="0"/>
              <a:pPr>
                <a:spcAft>
                  <a:spcPts val="600"/>
                </a:spcAft>
              </a:pPr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58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B4732-34DD-A66C-41A7-F69E4A515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33218-7E27-1392-CFB7-D43267BCD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GB" dirty="0"/>
              <a:t>Logical Model Constraints: </a:t>
            </a:r>
            <a:br>
              <a:rPr lang="en-GB" dirty="0"/>
            </a:br>
            <a:r>
              <a:rPr lang="en-GB" sz="4000" dirty="0"/>
              <a:t>Question Solution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A294D-799A-73EB-B205-617FDF3BC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en-GB" dirty="0"/>
              <a:t>The relational schema for both staff and student:</a:t>
            </a:r>
          </a:p>
          <a:p>
            <a:pPr lvl="1"/>
            <a:r>
              <a:rPr lang="nl-NL" dirty="0"/>
              <a:t>Staff (</a:t>
            </a:r>
            <a:r>
              <a:rPr lang="nl-NL" b="1" u="sng" dirty="0"/>
              <a:t>Staff_ID</a:t>
            </a:r>
            <a:r>
              <a:rPr lang="nl-NL" dirty="0"/>
              <a:t> {PK}, Name, ...)</a:t>
            </a:r>
          </a:p>
          <a:p>
            <a:pPr lvl="1"/>
            <a:r>
              <a:rPr lang="nl-NL" dirty="0"/>
              <a:t>UG (</a:t>
            </a:r>
            <a:r>
              <a:rPr lang="nl-NL" b="1" u="sng" dirty="0"/>
              <a:t>Student_ID</a:t>
            </a:r>
            <a:r>
              <a:rPr lang="nl-NL" dirty="0"/>
              <a:t> {PK}, Name, Login, Stage, DOB, </a:t>
            </a:r>
            <a:r>
              <a:rPr lang="nl-NL" i="1" dirty="0"/>
              <a:t>Tutor</a:t>
            </a:r>
            <a:r>
              <a:rPr lang="nl-NL" dirty="0"/>
              <a:t> {FK}, Degree)</a:t>
            </a:r>
          </a:p>
          <a:p>
            <a:r>
              <a:rPr lang="en-GB" dirty="0"/>
              <a:t>Why not also specify that </a:t>
            </a:r>
            <a:r>
              <a:rPr lang="en-GB" b="1" u="sng" dirty="0" err="1"/>
              <a:t>Staff_ID</a:t>
            </a:r>
            <a:r>
              <a:rPr lang="en-GB" dirty="0"/>
              <a:t> and </a:t>
            </a:r>
            <a:r>
              <a:rPr lang="en-GB" b="1" u="sng" dirty="0" err="1"/>
              <a:t>Student_ID</a:t>
            </a:r>
            <a:r>
              <a:rPr lang="en-GB" dirty="0"/>
              <a:t> are unique and not null?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363E499-97A2-7E7F-21E0-8C8792D16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57CF594-64CE-A351-D490-91BDC4EEBFE9}"/>
              </a:ext>
            </a:extLst>
          </p:cNvPr>
          <p:cNvSpPr/>
          <p:nvPr/>
        </p:nvSpPr>
        <p:spPr>
          <a:xfrm>
            <a:off x="1319701" y="4809478"/>
            <a:ext cx="5558771" cy="8198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400" dirty="0"/>
              <a:t>They are primary keys, and entity integrity already guarantees this – see notes below.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F7BB4-EFCA-830D-FB66-0FA364E09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96A34F1-7EE3-4CA4-B196-255978C82451}" type="slidenum">
              <a:rPr lang="en-GB" smtClean="0"/>
              <a:pPr>
                <a:spcAft>
                  <a:spcPts val="600"/>
                </a:spcAft>
              </a:pPr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165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86755-A6F8-4C7D-96BD-0C92B0B3F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8341A-7668-412A-9E7C-475ECD5DA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69715"/>
          </a:xfrm>
        </p:spPr>
        <p:txBody>
          <a:bodyPr>
            <a:normAutofit/>
          </a:bodyPr>
          <a:lstStyle/>
          <a:p>
            <a:r>
              <a:rPr lang="en-US" b="1" dirty="0"/>
              <a:t>Rules</a:t>
            </a:r>
            <a:r>
              <a:rPr lang="en-US" dirty="0"/>
              <a:t> formulated by the database designer may contain column or table constraints </a:t>
            </a:r>
            <a:r>
              <a:rPr lang="en-US" b="1" dirty="0"/>
              <a:t>to prevent</a:t>
            </a:r>
            <a:r>
              <a:rPr lang="en-US" dirty="0"/>
              <a:t>:</a:t>
            </a:r>
          </a:p>
          <a:p>
            <a:pPr lvl="1"/>
            <a:r>
              <a:rPr lang="en-GB" b="1" dirty="0"/>
              <a:t>Accidental damage</a:t>
            </a:r>
            <a:r>
              <a:rPr lang="en-GB" dirty="0"/>
              <a:t> to the database</a:t>
            </a:r>
          </a:p>
          <a:p>
            <a:pPr lvl="1"/>
            <a:r>
              <a:rPr lang="en-GB" dirty="0"/>
              <a:t>Changes that may cause </a:t>
            </a:r>
            <a:r>
              <a:rPr lang="en-GB" b="1" dirty="0"/>
              <a:t>data inconsistency</a:t>
            </a:r>
          </a:p>
          <a:p>
            <a:r>
              <a:rPr lang="en-GB" dirty="0"/>
              <a:t>Many constraints can be specified using clauses in the </a:t>
            </a:r>
            <a:r>
              <a:rPr lang="en-GB" b="1" dirty="0"/>
              <a:t>CREATE TABLE</a:t>
            </a:r>
            <a:r>
              <a:rPr lang="en-GB" dirty="0"/>
              <a:t> statement.</a:t>
            </a:r>
          </a:p>
          <a:p>
            <a:r>
              <a:rPr lang="en-GB" dirty="0"/>
              <a:t>Some may have to be specified using database procedures or rules (</a:t>
            </a:r>
            <a:r>
              <a:rPr lang="en-GB" i="1" dirty="0"/>
              <a:t>to be covered later</a:t>
            </a:r>
            <a:r>
              <a:rPr lang="en-GB" dirty="0"/>
              <a:t>).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sz="2000" b="1" i="1" dirty="0"/>
              <a:t>Note</a:t>
            </a:r>
            <a:r>
              <a:rPr lang="en-GB" sz="2000" i="1" dirty="0"/>
              <a:t>: See more examples of constraints created in the CREATE TABLE statement at the end of the slides or in the Create Sample Database SQL provided on Moodle.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258B3-2ADF-4E9A-BE47-2BD2647A4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461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45129-7080-4FC2-B944-CFA4CD660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81C35-E1A8-4699-95C7-D881C4500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Mandatory data</a:t>
            </a:r>
          </a:p>
          <a:p>
            <a:pPr lvl="1"/>
            <a:r>
              <a:rPr lang="en-GB" b="1" dirty="0">
                <a:solidFill>
                  <a:srgbClr val="C00000"/>
                </a:solidFill>
              </a:rPr>
              <a:t>NOT NULL </a:t>
            </a:r>
          </a:p>
          <a:p>
            <a:r>
              <a:rPr lang="en-GB" dirty="0"/>
              <a:t>Entity integrity</a:t>
            </a:r>
          </a:p>
          <a:p>
            <a:pPr lvl="1"/>
            <a:r>
              <a:rPr lang="en-GB" b="1" dirty="0">
                <a:solidFill>
                  <a:srgbClr val="C00000"/>
                </a:solidFill>
              </a:rPr>
              <a:t>PRIMARY KEY</a:t>
            </a:r>
          </a:p>
          <a:p>
            <a:r>
              <a:rPr lang="en-GB" dirty="0"/>
              <a:t>Referential integrity</a:t>
            </a:r>
          </a:p>
          <a:p>
            <a:pPr lvl="1"/>
            <a:r>
              <a:rPr lang="en-GB" b="1" dirty="0">
                <a:solidFill>
                  <a:srgbClr val="C00000"/>
                </a:solidFill>
              </a:rPr>
              <a:t>FOREIGN KEY</a:t>
            </a:r>
          </a:p>
          <a:p>
            <a:r>
              <a:rPr lang="en-GB" dirty="0"/>
              <a:t>Column value constraints</a:t>
            </a:r>
          </a:p>
          <a:p>
            <a:pPr lvl="1"/>
            <a:r>
              <a:rPr lang="en-GB" b="1" dirty="0">
                <a:solidFill>
                  <a:srgbClr val="C00000"/>
                </a:solidFill>
              </a:rPr>
              <a:t>CHECK, UNIQUE, DEFAULT</a:t>
            </a:r>
          </a:p>
          <a:p>
            <a:r>
              <a:rPr lang="en-GB" dirty="0"/>
              <a:t>Enterprise constraints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B509E-A1D6-498F-AD8F-C31AFA2BB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402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66B01-1A13-4DD6-AA77-AFD812F46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13450-688C-424D-9F01-6212CA77C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573352" cy="4422720"/>
          </a:xfrm>
        </p:spPr>
        <p:txBody>
          <a:bodyPr>
            <a:normAutofit/>
          </a:bodyPr>
          <a:lstStyle/>
          <a:p>
            <a:r>
              <a:rPr lang="en-GB" dirty="0"/>
              <a:t>Consider a table representing a Timetable schedule</a:t>
            </a:r>
          </a:p>
          <a:p>
            <a:pPr marL="475488" lvl="2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Timetable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event_Id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4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KEY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title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200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 	NOT NULL,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room	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12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 NOT NULL,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	timeslot	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TIME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 NOT NULL,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pPr marL="475488" lvl="2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GB" sz="2000" dirty="0">
                <a:solidFill>
                  <a:srgbClr val="0000FF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CONSTRAINT</a:t>
            </a:r>
            <a:r>
              <a:rPr lang="en-GB" sz="2000" dirty="0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 NO_DOUBLE_BOOKING </a:t>
            </a:r>
            <a:r>
              <a:rPr lang="en-GB" sz="2000" dirty="0">
                <a:solidFill>
                  <a:srgbClr val="0000FF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UNIQUE</a:t>
            </a:r>
            <a:r>
              <a:rPr lang="en-GB" sz="2000" dirty="0">
                <a:solidFill>
                  <a:srgbClr val="80808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room</a:t>
            </a:r>
            <a:r>
              <a:rPr lang="en-GB" sz="2000" dirty="0">
                <a:solidFill>
                  <a:srgbClr val="80808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 timeslot</a:t>
            </a:r>
            <a:r>
              <a:rPr lang="en-GB" sz="2000" dirty="0">
                <a:solidFill>
                  <a:srgbClr val="80808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)</a:t>
            </a:r>
            <a:endParaRPr lang="en-GB" sz="2000" dirty="0">
              <a:solidFill>
                <a:srgbClr val="000000"/>
              </a:solidFill>
              <a:highlight>
                <a:srgbClr val="D2EFFA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sz="2000" dirty="0"/>
          </a:p>
          <a:p>
            <a:r>
              <a:rPr lang="en-GB" dirty="0"/>
              <a:t>Requires room and timeslot to be unique in combination</a:t>
            </a:r>
          </a:p>
          <a:p>
            <a:pPr lvl="1"/>
            <a:r>
              <a:rPr lang="en-GB" dirty="0"/>
              <a:t>CONSTRAINT keyword is used as constraint is defined after both column definitions.</a:t>
            </a:r>
          </a:p>
          <a:p>
            <a:pPr lvl="1"/>
            <a:r>
              <a:rPr lang="en-GB" dirty="0"/>
              <a:t>NO_DOUBLE_BOOKING is a name given to the constraint to identify it, useful if you need to change it later.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B34D4-A85D-4063-9580-37CF876B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6049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C0DBD-9EAB-4385-B4D4-86456AF7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Tables with SQL </a:t>
            </a:r>
            <a:br>
              <a:rPr lang="en-GB" dirty="0"/>
            </a:br>
            <a:r>
              <a:rPr lang="en-GB" sz="4000" dirty="0"/>
              <a:t>Adding the Constraints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E7828-D325-4931-B35D-013F74FA0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839347" cy="4614052"/>
          </a:xfrm>
        </p:spPr>
        <p:txBody>
          <a:bodyPr>
            <a:normAutofit fontScale="92500" lnSpcReduction="20000"/>
          </a:bodyPr>
          <a:lstStyle/>
          <a:p>
            <a:pPr marL="566928" lvl="3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Staff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66928" lvl="3" indent="0">
              <a:buNone/>
            </a:pP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Staff_ID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INT		PRIMARY KEY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66928" lvl="3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	Name		VARCHAR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NULL,</a:t>
            </a:r>
            <a:b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GB" sz="3200" dirty="0">
                <a:solidFill>
                  <a:srgbClr val="0000FF"/>
                </a:solidFill>
                <a:latin typeface="Consolas" panose="020B0609020204030204" pitchFamily="49" charset="0"/>
              </a:rPr>
              <a:t>	…</a:t>
            </a:r>
            <a:endParaRPr lang="en-GB" sz="3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66928" lvl="3" indent="0">
              <a:buNone/>
            </a:pP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sz="2200" dirty="0"/>
          </a:p>
          <a:p>
            <a:endParaRPr lang="en-GB" dirty="0"/>
          </a:p>
          <a:p>
            <a:pPr marL="475488" lvl="2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UG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Student_ID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8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	PRIMARY KEY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	Login		VARCHAR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	NOT NULL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UNIQUE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	Name		VARCHAR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 	NOT NULL,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Stage		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	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CHECK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Stage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(NULL,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'0'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'1'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'2'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, …)),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DOB		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DATE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CHECK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DOB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current_date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-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interval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'17 years'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	Tutor		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sz="2200" dirty="0"/>
          </a:p>
          <a:p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AF15B-5AE5-4B35-96F8-5479BA191E73}"/>
              </a:ext>
            </a:extLst>
          </p:cNvPr>
          <p:cNvSpPr/>
          <p:nvPr/>
        </p:nvSpPr>
        <p:spPr>
          <a:xfrm rot="21420000">
            <a:off x="9192267" y="5516587"/>
            <a:ext cx="2311428" cy="72189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What about if the PK is a composite key?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4C184-EA1D-42B8-98B4-C6A34F935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700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12AD4-3FC0-D320-0524-677FD5CF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Tables with SQL</a:t>
            </a:r>
            <a:br>
              <a:rPr lang="en-GB" dirty="0"/>
            </a:br>
            <a:r>
              <a:rPr lang="en-GB" sz="4000" dirty="0"/>
              <a:t>Composite Primary Key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15C7F-6BA9-ED67-95B5-4C7289D10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616925" cy="4725664"/>
          </a:xfrm>
        </p:spPr>
        <p:txBody>
          <a:bodyPr>
            <a:normAutofit/>
          </a:bodyPr>
          <a:lstStyle/>
          <a:p>
            <a:r>
              <a:rPr lang="en-GB" dirty="0"/>
              <a:t>If your primary key is a </a:t>
            </a:r>
            <a:r>
              <a:rPr lang="en-GB" b="1" dirty="0"/>
              <a:t>composite key</a:t>
            </a:r>
            <a:r>
              <a:rPr lang="en-GB" dirty="0"/>
              <a:t>: </a:t>
            </a:r>
          </a:p>
          <a:p>
            <a:pPr lvl="1"/>
            <a:r>
              <a:rPr lang="en-GB" b="1" dirty="0"/>
              <a:t>You create the key </a:t>
            </a:r>
            <a:r>
              <a:rPr lang="en-GB" b="1" i="1" dirty="0"/>
              <a:t>after the column definitions</a:t>
            </a:r>
            <a:r>
              <a:rPr lang="en-GB" dirty="0"/>
              <a:t> of the attributes making up the primary key.</a:t>
            </a:r>
          </a:p>
          <a:p>
            <a:pPr lvl="1"/>
            <a:r>
              <a:rPr lang="en-GB" b="1" dirty="0"/>
              <a:t>Syntax</a:t>
            </a:r>
            <a:r>
              <a:rPr lang="en-GB" dirty="0"/>
              <a:t>: PRIMARY KEY (attribute1, attribute2, …)</a:t>
            </a:r>
          </a:p>
          <a:p>
            <a:r>
              <a:rPr lang="en-GB" dirty="0"/>
              <a:t>For example, in the Teaching Assignment table:</a:t>
            </a:r>
          </a:p>
          <a:p>
            <a:pPr marL="292608" lvl="1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Teaching_Assignment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Staff_ID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Module_Code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8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</a:p>
          <a:p>
            <a:pPr marL="292608" lvl="1" indent="0">
              <a:buNone/>
            </a:pPr>
            <a:r>
              <a:rPr lang="en-GB" sz="1800" dirty="0">
                <a:solidFill>
                  <a:srgbClr val="FF00FF"/>
                </a:solidFill>
                <a:latin typeface="Consolas" panose="020B0609020204030204" pitchFamily="49" charset="0"/>
              </a:rPr>
              <a:t>  </a:t>
            </a:r>
            <a:r>
              <a:rPr lang="en-GB" dirty="0">
                <a:solidFill>
                  <a:srgbClr val="C00000"/>
                </a:solidFill>
                <a:latin typeface="Consolas" panose="020B0609020204030204" pitchFamily="49" charset="0"/>
              </a:rPr>
              <a:t>Year</a:t>
            </a:r>
            <a:r>
              <a:rPr lang="en-GB" dirty="0">
                <a:solidFill>
                  <a:srgbClr val="FF00FF"/>
                </a:solidFill>
                <a:latin typeface="Consolas" panose="020B0609020204030204" pitchFamily="49" charset="0"/>
              </a:rPr>
              <a:t>		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SMALLINT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…</a:t>
            </a:r>
          </a:p>
          <a:p>
            <a:pPr marL="292608" lvl="1" indent="0">
              <a:buNone/>
            </a:pP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  -- Composite key created after the columns that make up the composite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GB" dirty="0">
                <a:solidFill>
                  <a:srgbClr val="0000FF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PRIMARY</a:t>
            </a:r>
            <a:r>
              <a:rPr lang="en-GB" dirty="0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KEY </a:t>
            </a:r>
            <a:r>
              <a:rPr lang="en-GB" dirty="0">
                <a:solidFill>
                  <a:srgbClr val="80808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Staff_ID</a:t>
            </a:r>
            <a:r>
              <a:rPr lang="en-GB" dirty="0">
                <a:solidFill>
                  <a:srgbClr val="80808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,</a:t>
            </a:r>
            <a:r>
              <a:rPr lang="en-GB" dirty="0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Module_Code</a:t>
            </a:r>
            <a:r>
              <a:rPr lang="en-GB" dirty="0">
                <a:solidFill>
                  <a:srgbClr val="80808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,</a:t>
            </a:r>
            <a:r>
              <a:rPr lang="en-GB" dirty="0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C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Year</a:t>
            </a:r>
            <a:r>
              <a:rPr lang="en-GB" dirty="0">
                <a:solidFill>
                  <a:srgbClr val="80808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)</a:t>
            </a:r>
            <a:r>
              <a:rPr lang="en-GB" dirty="0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-- Composite Key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F6112-81AD-C085-C6E8-22455170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11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E11F-2B23-44DD-981B-DDD019419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Default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1F9CB-B639-419B-84DD-A16272948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542785" cy="4443855"/>
          </a:xfrm>
        </p:spPr>
        <p:txBody>
          <a:bodyPr>
            <a:normAutofit/>
          </a:bodyPr>
          <a:lstStyle/>
          <a:p>
            <a:r>
              <a:rPr lang="en-GB" dirty="0"/>
              <a:t>By default, if a value is </a:t>
            </a:r>
            <a:r>
              <a:rPr lang="en-GB" i="1" u="sng" dirty="0"/>
              <a:t>not specified</a:t>
            </a:r>
            <a:r>
              <a:rPr lang="en-GB" dirty="0"/>
              <a:t> for a column value, it is set to:</a:t>
            </a:r>
          </a:p>
          <a:p>
            <a:pPr lvl="1"/>
            <a:r>
              <a:rPr lang="en-GB" dirty="0"/>
              <a:t>NULL as long as the column allows null values or </a:t>
            </a:r>
          </a:p>
          <a:p>
            <a:pPr lvl="1"/>
            <a:r>
              <a:rPr lang="en-GB" dirty="0"/>
              <a:t>The column’s data type default e.g. 0 for integers</a:t>
            </a:r>
          </a:p>
          <a:p>
            <a:r>
              <a:rPr lang="en-GB" dirty="0"/>
              <a:t>Sometimes you want to specify a default value other than null or the data type default that will be entered in a column if the user leaves it blank.</a:t>
            </a:r>
          </a:p>
          <a:p>
            <a:r>
              <a:rPr lang="en-GB" dirty="0"/>
              <a:t>The DEFAULT constraint is used.</a:t>
            </a:r>
          </a:p>
          <a:p>
            <a:pPr lvl="1"/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...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default_value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[FOR 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column_name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endParaRPr lang="en-GB" dirty="0"/>
          </a:p>
          <a:p>
            <a:r>
              <a:rPr lang="en-GB" dirty="0"/>
              <a:t>Examples:</a:t>
            </a:r>
          </a:p>
          <a:p>
            <a:pPr lvl="1"/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Quantity	</a:t>
            </a:r>
            <a:r>
              <a:rPr lang="en-GB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DEFAULT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</a:t>
            </a:r>
            <a:r>
              <a:rPr lang="en-GB" dirty="0"/>
              <a:t> 	</a:t>
            </a:r>
            <a:r>
              <a:rPr lang="en-GB" sz="1800" dirty="0">
                <a:solidFill>
                  <a:srgbClr val="008000"/>
                </a:solidFill>
                <a:latin typeface="Consolas" panose="020B0609020204030204" pitchFamily="49" charset="0"/>
              </a:rPr>
              <a:t>-- sets default to 1</a:t>
            </a:r>
            <a:endParaRPr lang="en-GB" dirty="0"/>
          </a:p>
          <a:p>
            <a:pPr lvl="1"/>
            <a:r>
              <a:rPr lang="en-GB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Order_Date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GB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DATETIME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DEFAULT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current_timestamp</a:t>
            </a:r>
            <a:r>
              <a:rPr lang="en-GB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GB" sz="1800" dirty="0">
                <a:solidFill>
                  <a:srgbClr val="008000"/>
                </a:solidFill>
                <a:latin typeface="Consolas" panose="020B0609020204030204" pitchFamily="49" charset="0"/>
              </a:rPr>
              <a:t> -- sets default to current date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C5762-4F9D-4264-B3C8-E4B580CE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6A34F1-7EE3-4CA4-B196-255978C82451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8791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D6744F-99A6-541B-62DC-C712796ED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dirty="0"/>
              <a:t>Referential Integrity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B27AEB7-620C-3330-07E4-4E2E5BAB0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70995" y="643467"/>
            <a:ext cx="3341488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Foreign Keys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AC3B8-41E5-94EC-B9CE-FE22ACA93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96A34F1-7EE3-4CA4-B196-255978C82451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496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96AD-78D7-B202-F53B-0330F02CD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Referential Integrity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60810-20C1-7EA4-5C8A-1D817EAD7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Foreign keys establish relationships between tables.</a:t>
            </a:r>
          </a:p>
          <a:p>
            <a:r>
              <a:rPr lang="en-US" dirty="0"/>
              <a:t>Referential integrity </a:t>
            </a:r>
            <a:r>
              <a:rPr lang="en-US" b="1" dirty="0"/>
              <a:t>rule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Value of a foreign key must either match an existing value of the primary key it refers to </a:t>
            </a:r>
            <a:br>
              <a:rPr lang="en-US" b="1" dirty="0"/>
            </a:br>
            <a:r>
              <a:rPr lang="en-US" b="1" dirty="0"/>
              <a:t>or be null</a:t>
            </a:r>
            <a:r>
              <a:rPr lang="en-US" dirty="0"/>
              <a:t>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1975D-D5B0-5FE7-FAAC-759CC12E0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837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39AE6-2AF3-4E89-BD10-906F988FF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Foreign Keys: Example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1B5A26D2-E4D3-F1DC-5046-25A3EFC53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6" t="11487" r="5840" b="8266"/>
          <a:stretch/>
        </p:blipFill>
        <p:spPr bwMode="auto">
          <a:xfrm>
            <a:off x="6999834" y="1622815"/>
            <a:ext cx="5126725" cy="1222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D50D6-697E-4E8C-A795-C22619DBD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GB" dirty="0"/>
              <a:t>To add the foreign key in the UG table</a:t>
            </a:r>
          </a:p>
          <a:p>
            <a:pPr marL="475488" lvl="2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UG 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Student_ID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8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KEY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…</a:t>
            </a:r>
          </a:p>
          <a:p>
            <a:pPr marL="475488" lvl="2" indent="0"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Tutor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GB" sz="2400" dirty="0">
                <a:solidFill>
                  <a:srgbClr val="0000FF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FOREIGN</a:t>
            </a:r>
            <a:r>
              <a:rPr lang="en-GB" sz="2400" dirty="0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KEY </a:t>
            </a:r>
            <a:r>
              <a:rPr lang="en-GB" sz="2400" dirty="0">
                <a:solidFill>
                  <a:srgbClr val="80808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(</a:t>
            </a:r>
            <a:r>
              <a:rPr lang="en-GB" sz="2400" b="1" dirty="0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Tutor</a:t>
            </a:r>
            <a:r>
              <a:rPr lang="en-GB" sz="2400" dirty="0">
                <a:solidFill>
                  <a:srgbClr val="80808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)</a:t>
            </a:r>
            <a:r>
              <a:rPr lang="en-GB" sz="2400" dirty="0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REFERENCES</a:t>
            </a:r>
            <a:r>
              <a:rPr lang="en-GB" sz="2400" dirty="0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 Staff</a:t>
            </a:r>
            <a:r>
              <a:rPr lang="en-GB" sz="2400" dirty="0">
                <a:solidFill>
                  <a:srgbClr val="0000FF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80808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(</a:t>
            </a:r>
            <a:r>
              <a:rPr lang="en-GB" sz="2400" dirty="0" err="1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Staff_ID</a:t>
            </a:r>
            <a:r>
              <a:rPr lang="en-GB" sz="2400" dirty="0">
                <a:solidFill>
                  <a:srgbClr val="80808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)</a:t>
            </a:r>
            <a:endParaRPr lang="en-GB" sz="2400" dirty="0">
              <a:solidFill>
                <a:srgbClr val="000000"/>
              </a:solidFill>
              <a:highlight>
                <a:srgbClr val="D2EFFA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sz="2400" dirty="0"/>
          </a:p>
          <a:p>
            <a:endParaRPr lang="en-GB" dirty="0"/>
          </a:p>
          <a:p>
            <a:endParaRPr lang="en-GB" dirty="0"/>
          </a:p>
        </p:txBody>
      </p:sp>
      <p:grpSp>
        <p:nvGrpSpPr>
          <p:cNvPr id="6" name="Group 5" descr="FOREIGN KEY (Tutor) REFERENCES Staff (StaffID)&#10;Tutor: Name of Foreign Key Column in Child (i.e. this) Table">
            <a:extLst>
              <a:ext uri="{FF2B5EF4-FFF2-40B4-BE49-F238E27FC236}">
                <a16:creationId xmlns:a16="http://schemas.microsoft.com/office/drawing/2014/main" id="{E60CC460-EAED-46C6-A25B-9352DFD108C6}"/>
              </a:ext>
            </a:extLst>
          </p:cNvPr>
          <p:cNvGrpSpPr/>
          <p:nvPr/>
        </p:nvGrpSpPr>
        <p:grpSpPr>
          <a:xfrm>
            <a:off x="3547718" y="4476331"/>
            <a:ext cx="2104410" cy="976432"/>
            <a:chOff x="2627784" y="5881568"/>
            <a:chExt cx="2232248" cy="9764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802FC8C-A27A-439D-BDD4-471397FF5E1E}"/>
                </a:ext>
              </a:extLst>
            </p:cNvPr>
            <p:cNvSpPr txBox="1"/>
            <p:nvPr/>
          </p:nvSpPr>
          <p:spPr>
            <a:xfrm>
              <a:off x="2627784" y="6211669"/>
              <a:ext cx="22322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Name of FK Column in Child (this) table 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D098DE0-F965-4CCC-BA5E-7AC4D84E7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3743908" y="5881568"/>
              <a:ext cx="0" cy="3301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 descr="FOREIGN KEY (Tutor) REFERENCES Staff (StaffID)&#10;Staff: Name of Parent Table">
            <a:extLst>
              <a:ext uri="{FF2B5EF4-FFF2-40B4-BE49-F238E27FC236}">
                <a16:creationId xmlns:a16="http://schemas.microsoft.com/office/drawing/2014/main" id="{66BE9105-BA54-480C-8E18-1A528A56A739}"/>
              </a:ext>
            </a:extLst>
          </p:cNvPr>
          <p:cNvGrpSpPr/>
          <p:nvPr/>
        </p:nvGrpSpPr>
        <p:grpSpPr>
          <a:xfrm>
            <a:off x="6999834" y="4476332"/>
            <a:ext cx="1530842" cy="976431"/>
            <a:chOff x="3062888" y="5881569"/>
            <a:chExt cx="1623837" cy="97643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25D53B0-DEF9-463C-B2EC-90FFE654E801}"/>
                </a:ext>
              </a:extLst>
            </p:cNvPr>
            <p:cNvSpPr txBox="1"/>
            <p:nvPr/>
          </p:nvSpPr>
          <p:spPr>
            <a:xfrm>
              <a:off x="3062888" y="6211669"/>
              <a:ext cx="16238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Name of Parent Table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2139295-B4DA-46C5-8EA0-76A9255DD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V="1">
              <a:off x="3874800" y="5881569"/>
              <a:ext cx="181" cy="3301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 descr="FOREIGN KEY (Tutor) REFERENCES Staff (StaffID)&#10;StaffID: Name of Primary Key Column the FK refers to in the Parent Table">
            <a:extLst>
              <a:ext uri="{FF2B5EF4-FFF2-40B4-BE49-F238E27FC236}">
                <a16:creationId xmlns:a16="http://schemas.microsoft.com/office/drawing/2014/main" id="{C40D1780-AD48-4FD4-BF8A-4F8CC73A5D51}"/>
              </a:ext>
            </a:extLst>
          </p:cNvPr>
          <p:cNvGrpSpPr/>
          <p:nvPr/>
        </p:nvGrpSpPr>
        <p:grpSpPr>
          <a:xfrm>
            <a:off x="8587878" y="4476331"/>
            <a:ext cx="2793994" cy="989583"/>
            <a:chOff x="2221447" y="5868417"/>
            <a:chExt cx="2963724" cy="98958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7C3D527-C5FB-4F55-B1CD-D195DC4D3330}"/>
                </a:ext>
              </a:extLst>
            </p:cNvPr>
            <p:cNvSpPr txBox="1"/>
            <p:nvPr/>
          </p:nvSpPr>
          <p:spPr>
            <a:xfrm>
              <a:off x="2221447" y="6211669"/>
              <a:ext cx="29637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Name of PK Column the FK refers to in the Parent table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499ABBB-9391-44AF-BF95-10F2027083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8191" y="5868417"/>
              <a:ext cx="0" cy="3301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A88F5ED-221F-42BC-A199-93947617F073}"/>
              </a:ext>
            </a:extLst>
          </p:cNvPr>
          <p:cNvSpPr txBox="1"/>
          <p:nvPr/>
        </p:nvSpPr>
        <p:spPr>
          <a:xfrm>
            <a:off x="1097280" y="5657782"/>
            <a:ext cx="10058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Deletion of a record in the ‘parent’ table, Staff, is not allowed if there exists any referenced records in the ‘child’ table, UG.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730A2-B79D-4CF0-8D36-C6BA7905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109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3FBB-A760-9404-922B-96BB748CA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Referential Integrity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900BE-D6BA-EC54-7200-6E1C39C43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important to enforce referential integrity in a relational database </a:t>
            </a:r>
            <a:r>
              <a:rPr lang="en-US" b="1" dirty="0"/>
              <a:t>to ensure</a:t>
            </a:r>
            <a:r>
              <a:rPr lang="en-US" dirty="0"/>
              <a:t> </a:t>
            </a:r>
            <a:r>
              <a:rPr lang="en-US" b="1" dirty="0"/>
              <a:t>data consistency</a:t>
            </a:r>
          </a:p>
          <a:p>
            <a:pPr lvl="1"/>
            <a:r>
              <a:rPr lang="en-GB" dirty="0"/>
              <a:t>No dangling reference in a ‘child’ table</a:t>
            </a:r>
          </a:p>
          <a:p>
            <a:pPr lvl="1"/>
            <a:endParaRPr lang="en-US" dirty="0"/>
          </a:p>
          <a:p>
            <a:r>
              <a:rPr lang="en-GB" b="1" i="1" dirty="0"/>
              <a:t>Deletion of a record in the ‘parent’ table is not allowed if there exists any referenced records in the ‘child’ table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D2AEE-B0A0-DB4B-14D4-32ADEB90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707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EEB46-8825-49A2-8FF4-55192A97F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Referential Integrity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6F940-6AF5-429A-8AF4-7C2F231B5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i="1" dirty="0"/>
              <a:t>What happens if you delete/change a record in a ‘parent’ table </a:t>
            </a:r>
            <a:r>
              <a:rPr lang="en-GB" dirty="0"/>
              <a:t>that has a matching record in a ‘child’ table?</a:t>
            </a:r>
          </a:p>
          <a:p>
            <a:r>
              <a:rPr lang="en-GB" dirty="0"/>
              <a:t>The effects of amendments to the ‘parent’ table </a:t>
            </a:r>
            <a:r>
              <a:rPr lang="en-GB" b="1" dirty="0"/>
              <a:t>depend on actions</a:t>
            </a:r>
            <a:r>
              <a:rPr lang="en-GB" dirty="0"/>
              <a:t> specified </a:t>
            </a:r>
            <a:r>
              <a:rPr lang="en-GB" b="1" dirty="0"/>
              <a:t>in the REFERENCES clause</a:t>
            </a:r>
            <a:r>
              <a:rPr lang="en-GB" dirty="0"/>
              <a:t> of the ‘child’ table when creating the foreign key.</a:t>
            </a:r>
          </a:p>
          <a:p>
            <a:r>
              <a:rPr lang="en-GB" b="1" dirty="0"/>
              <a:t>By default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Any DELETION of a record in the parent table is </a:t>
            </a:r>
            <a:r>
              <a:rPr lang="en-GB" b="1" i="1" dirty="0"/>
              <a:t>not allowed</a:t>
            </a:r>
            <a:r>
              <a:rPr lang="en-GB" dirty="0"/>
              <a:t> if there exists any referenced child records in the child table. </a:t>
            </a:r>
          </a:p>
          <a:p>
            <a:r>
              <a:rPr lang="en-GB" dirty="0"/>
              <a:t>Sometimes, this may be too strict.</a:t>
            </a:r>
          </a:p>
          <a:p>
            <a:pPr lvl="1"/>
            <a:r>
              <a:rPr lang="en-GB" b="1" dirty="0"/>
              <a:t>You can change the default behaviour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C646F-FA77-4532-8F1D-30107B89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347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0169-DE17-49F8-A8FA-08101CE58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Cascading Referential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1F27C-16F2-46C0-9865-2887F9A69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Other options for referential integrity are:</a:t>
            </a:r>
          </a:p>
          <a:p>
            <a:r>
              <a:rPr lang="en-GB" b="1" dirty="0"/>
              <a:t>CASCADE</a:t>
            </a:r>
          </a:p>
          <a:p>
            <a:pPr lvl="1"/>
            <a:r>
              <a:rPr lang="en-GB" dirty="0"/>
              <a:t>Deleting a record in the ‘parent’ table automatically deletes </a:t>
            </a:r>
            <a:r>
              <a:rPr lang="en-GB" i="1" dirty="0"/>
              <a:t>all</a:t>
            </a:r>
            <a:r>
              <a:rPr lang="en-GB" dirty="0"/>
              <a:t> referenced records in ‘child’ tables.</a:t>
            </a:r>
          </a:p>
          <a:p>
            <a:r>
              <a:rPr lang="en-GB" b="1" dirty="0"/>
              <a:t>SET NULL</a:t>
            </a:r>
          </a:p>
          <a:p>
            <a:pPr lvl="1"/>
            <a:r>
              <a:rPr lang="en-GB" dirty="0"/>
              <a:t>Deleting a record in the ‘parent’ table automatically sets the foreign key value of </a:t>
            </a:r>
            <a:r>
              <a:rPr lang="en-GB" i="1" dirty="0"/>
              <a:t>all</a:t>
            </a:r>
            <a:r>
              <a:rPr lang="en-GB" dirty="0"/>
              <a:t> referenced ‘child’ records to NULL. </a:t>
            </a:r>
            <a:r>
              <a:rPr lang="en-GB" i="1" dirty="0"/>
              <a:t>Only works if the FK column allows nulls</a:t>
            </a:r>
            <a:r>
              <a:rPr lang="en-GB" dirty="0"/>
              <a:t>.</a:t>
            </a:r>
          </a:p>
          <a:p>
            <a:r>
              <a:rPr lang="en-GB" b="1" dirty="0"/>
              <a:t>SET DEFAULT</a:t>
            </a:r>
          </a:p>
          <a:p>
            <a:pPr lvl="1"/>
            <a:r>
              <a:rPr lang="en-GB" dirty="0"/>
              <a:t>Deleting a record in the ‘parent’ table automatically sets the foreign key value of </a:t>
            </a:r>
            <a:r>
              <a:rPr lang="en-GB" i="1" dirty="0"/>
              <a:t>all</a:t>
            </a:r>
            <a:r>
              <a:rPr lang="en-GB" dirty="0"/>
              <a:t> referenced ‘child’ records to a default value.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28986-9CB6-4818-9EB8-D4B1F2C3E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38346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39AE6-2AF3-4E89-BD10-906F988FF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Cascading Referential Integrity: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D50D6-697E-4E8C-A795-C22619DBD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06940"/>
          </a:xfrm>
        </p:spPr>
        <p:txBody>
          <a:bodyPr>
            <a:normAutofit lnSpcReduction="10000"/>
          </a:bodyPr>
          <a:lstStyle/>
          <a:p>
            <a:pPr>
              <a:spcAft>
                <a:spcPts val="1200"/>
              </a:spcAft>
            </a:pPr>
            <a:r>
              <a:rPr lang="en-GB" dirty="0"/>
              <a:t>For example:</a:t>
            </a:r>
          </a:p>
          <a:p>
            <a:pPr marL="475488" lvl="2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UG 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StudentID	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8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KEY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…</a:t>
            </a:r>
          </a:p>
          <a:p>
            <a:pPr marL="475488" lvl="2" indent="0"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Tutor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	FOREIGN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KEY 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Tutor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REFERENCES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Staff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StaffID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pPr marL="292608" lvl="1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en-GB" sz="2400" b="1" dirty="0">
                <a:solidFill>
                  <a:srgbClr val="0000FF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ON</a:t>
            </a:r>
            <a:r>
              <a:rPr lang="en-GB" sz="2400" b="1" dirty="0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 </a:t>
            </a:r>
            <a:r>
              <a:rPr lang="en-GB" sz="2400" b="1" dirty="0">
                <a:solidFill>
                  <a:srgbClr val="0000FF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UPDATE</a:t>
            </a:r>
            <a:r>
              <a:rPr lang="en-GB" sz="2400" b="1" dirty="0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 </a:t>
            </a:r>
            <a:r>
              <a:rPr lang="en-GB" sz="2400" b="1" dirty="0">
                <a:solidFill>
                  <a:srgbClr val="0000FF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CASCADE</a:t>
            </a:r>
            <a:endParaRPr lang="en-GB" sz="2400" b="1" dirty="0">
              <a:solidFill>
                <a:srgbClr val="000000"/>
              </a:solidFill>
              <a:highlight>
                <a:srgbClr val="D2EFFA"/>
              </a:highlight>
              <a:latin typeface="Consolas" panose="020B0609020204030204" pitchFamily="49" charset="0"/>
            </a:endParaRPr>
          </a:p>
          <a:p>
            <a:pPr marL="292608" lvl="1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en-GB" sz="2400" b="1" dirty="0">
                <a:solidFill>
                  <a:srgbClr val="0000FF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ON</a:t>
            </a:r>
            <a:r>
              <a:rPr lang="en-GB" sz="2400" b="1" dirty="0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 </a:t>
            </a:r>
            <a:r>
              <a:rPr lang="en-GB" sz="2400" b="1" dirty="0">
                <a:solidFill>
                  <a:srgbClr val="0000FF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DELETE</a:t>
            </a:r>
            <a:r>
              <a:rPr lang="en-GB" sz="2400" b="1" dirty="0">
                <a:solidFill>
                  <a:srgbClr val="000000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 </a:t>
            </a:r>
            <a:r>
              <a:rPr lang="en-GB" sz="2400" b="1" dirty="0">
                <a:solidFill>
                  <a:srgbClr val="0000FF"/>
                </a:solidFill>
                <a:highlight>
                  <a:srgbClr val="D2EFFA"/>
                </a:highlight>
                <a:latin typeface="Consolas" panose="020B0609020204030204" pitchFamily="49" charset="0"/>
              </a:rPr>
              <a:t>CASCADE</a:t>
            </a:r>
            <a:endParaRPr lang="en-GB" sz="2400" b="1" dirty="0">
              <a:solidFill>
                <a:srgbClr val="000000"/>
              </a:solidFill>
              <a:highlight>
                <a:srgbClr val="D2EFFA"/>
              </a:highlight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sz="2400" dirty="0"/>
          </a:p>
          <a:p>
            <a:r>
              <a:rPr lang="en-GB" dirty="0"/>
              <a:t>When </a:t>
            </a:r>
            <a:r>
              <a:rPr lang="en-GB" b="1" dirty="0"/>
              <a:t>deleting a staff member</a:t>
            </a:r>
            <a:r>
              <a:rPr lang="en-GB" dirty="0"/>
              <a:t> from the staff table, </a:t>
            </a:r>
            <a:r>
              <a:rPr lang="en-GB" b="1" i="1" dirty="0"/>
              <a:t>all students tutored by that staff member are automatically deleted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FF5767-BC0E-46D1-99C2-7528045B66B6}"/>
              </a:ext>
            </a:extLst>
          </p:cNvPr>
          <p:cNvSpPr/>
          <p:nvPr/>
        </p:nvSpPr>
        <p:spPr>
          <a:xfrm rot="21300000">
            <a:off x="7505882" y="5816188"/>
            <a:ext cx="3801979" cy="661737"/>
          </a:xfrm>
          <a:prstGeom prst="rect">
            <a:avLst/>
          </a:prstGeom>
          <a:solidFill>
            <a:srgbClr val="D2EFFA"/>
          </a:solidFill>
          <a:ln>
            <a:solidFill>
              <a:srgbClr val="0038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000" b="1" dirty="0">
                <a:solidFill>
                  <a:schemeClr val="tx1"/>
                </a:solidFill>
              </a:rPr>
              <a:t>What are your thoughts on this -  Good idea or bad idea?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730A2-B79D-4CF0-8D36-C6BA7905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10196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99908CB-D9F7-19DC-A1C3-D38B516D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dirty="0"/>
              <a:t>Very Quick Recap of SQL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C6362-792D-3A48-36F8-448E7AE1F19B}"/>
              </a:ext>
            </a:extLst>
          </p:cNvPr>
          <p:cNvSpPr txBox="1"/>
          <p:nvPr/>
        </p:nvSpPr>
        <p:spPr>
          <a:xfrm>
            <a:off x="2506230" y="4385260"/>
            <a:ext cx="3958712" cy="36933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permitting, otherwise homework!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D2B480-FC46-1736-ACE5-D79B64AD5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70995" y="643467"/>
            <a:ext cx="3341488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Adapted to PostgreSQL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C41B3-0C9D-D3A1-2A2A-AC2754C0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96A34F1-7EE3-4CA4-B196-255978C82451}" type="slidenum">
              <a:rPr lang="en-US" smtClean="0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159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C530-B54D-4FEC-A49F-526BD78C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 Statements /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E8249-FB77-477F-8578-C65007CB4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54815"/>
          </a:xfrm>
        </p:spPr>
        <p:txBody>
          <a:bodyPr>
            <a:normAutofit/>
          </a:bodyPr>
          <a:lstStyle/>
          <a:p>
            <a:r>
              <a:rPr lang="en-GB" dirty="0"/>
              <a:t>Consist of:</a:t>
            </a:r>
          </a:p>
          <a:p>
            <a:pPr lvl="1">
              <a:spcBef>
                <a:spcPct val="40000"/>
              </a:spcBef>
              <a:tabLst>
                <a:tab pos="2286000" algn="l"/>
                <a:tab pos="2667000" algn="l"/>
              </a:tabLst>
            </a:pPr>
            <a:r>
              <a:rPr lang="en-US" b="1" dirty="0">
                <a:latin typeface="Arial" charset="0"/>
              </a:rPr>
              <a:t>Reserved words </a:t>
            </a:r>
            <a:r>
              <a:rPr lang="en-US" dirty="0">
                <a:latin typeface="Arial" charset="0"/>
              </a:rPr>
              <a:t>(fixed, part of syntax)</a:t>
            </a:r>
          </a:p>
          <a:p>
            <a:pPr lvl="1">
              <a:spcBef>
                <a:spcPct val="40000"/>
              </a:spcBef>
              <a:tabLst>
                <a:tab pos="2286000" algn="l"/>
                <a:tab pos="2667000" algn="l"/>
              </a:tabLst>
            </a:pPr>
            <a:r>
              <a:rPr lang="en-US" b="1" dirty="0">
                <a:latin typeface="Arial" charset="0"/>
              </a:rPr>
              <a:t>User-defined words</a:t>
            </a:r>
            <a:r>
              <a:rPr lang="en-US" dirty="0">
                <a:latin typeface="Arial" charset="0"/>
              </a:rPr>
              <a:t> (e.g., names of relations, attributes, domains)</a:t>
            </a:r>
            <a:endParaRPr lang="en-GB" dirty="0"/>
          </a:p>
          <a:p>
            <a:r>
              <a:rPr lang="en-GB" dirty="0"/>
              <a:t>Provide a </a:t>
            </a:r>
            <a:r>
              <a:rPr lang="en-GB" b="1" dirty="0"/>
              <a:t>comprehensive language to</a:t>
            </a:r>
            <a:r>
              <a:rPr lang="en-GB" dirty="0"/>
              <a:t>:</a:t>
            </a:r>
          </a:p>
          <a:p>
            <a:pPr lvl="1">
              <a:spcBef>
                <a:spcPct val="40000"/>
              </a:spcBef>
              <a:tabLst>
                <a:tab pos="2286000" algn="l"/>
                <a:tab pos="2667000" algn="l"/>
              </a:tabLst>
            </a:pPr>
            <a:r>
              <a:rPr lang="en-US" dirty="0">
                <a:latin typeface="Arial" charset="0"/>
              </a:rPr>
              <a:t>Define and create the database (DDL)</a:t>
            </a:r>
          </a:p>
          <a:p>
            <a:pPr lvl="2">
              <a:spcBef>
                <a:spcPct val="40000"/>
              </a:spcBef>
              <a:tabLst>
                <a:tab pos="2286000" algn="l"/>
                <a:tab pos="2667000" algn="l"/>
              </a:tabLst>
            </a:pPr>
            <a:r>
              <a:rPr lang="en-US" dirty="0">
                <a:latin typeface="Arial" charset="0"/>
              </a:rPr>
              <a:t>Create the database</a:t>
            </a:r>
          </a:p>
          <a:p>
            <a:pPr lvl="2">
              <a:spcBef>
                <a:spcPct val="40000"/>
              </a:spcBef>
              <a:tabLst>
                <a:tab pos="2286000" algn="l"/>
                <a:tab pos="2667000" algn="l"/>
              </a:tabLst>
            </a:pPr>
            <a:r>
              <a:rPr lang="en-US" dirty="0">
                <a:latin typeface="Arial" charset="0"/>
              </a:rPr>
              <a:t>Create/delete database objects: schema, tables, domains, views, indexes, …</a:t>
            </a:r>
          </a:p>
          <a:p>
            <a:pPr lvl="1">
              <a:spcBef>
                <a:spcPct val="40000"/>
              </a:spcBef>
              <a:tabLst>
                <a:tab pos="2286000" algn="l"/>
                <a:tab pos="2667000" algn="l"/>
              </a:tabLst>
            </a:pPr>
            <a:r>
              <a:rPr lang="en-US" dirty="0">
                <a:latin typeface="Arial" charset="0"/>
              </a:rPr>
              <a:t>Populate the data, read, and modify it (DML)</a:t>
            </a:r>
          </a:p>
          <a:p>
            <a:pPr lvl="2">
              <a:spcBef>
                <a:spcPct val="40000"/>
              </a:spcBef>
              <a:tabLst>
                <a:tab pos="2286000" algn="l"/>
                <a:tab pos="2667000" algn="l"/>
              </a:tabLst>
            </a:pPr>
            <a:r>
              <a:rPr lang="en-US" dirty="0">
                <a:latin typeface="Arial" charset="0"/>
              </a:rPr>
              <a:t>Populate and query the database</a:t>
            </a:r>
          </a:p>
          <a:p>
            <a:pPr lvl="2">
              <a:spcBef>
                <a:spcPct val="40000"/>
              </a:spcBef>
              <a:tabLst>
                <a:tab pos="2286000" algn="l"/>
                <a:tab pos="2667000" algn="l"/>
              </a:tabLst>
            </a:pPr>
            <a:r>
              <a:rPr lang="en-US" dirty="0">
                <a:latin typeface="Arial" charset="0"/>
              </a:rPr>
              <a:t>CRUD: Create, Read, Update, Delete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61782043-9DE9-4F32-8986-A22D0DD87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08695" y="1028625"/>
            <a:ext cx="1686025" cy="472328"/>
          </a:xfrm>
          <a:prstGeom prst="borderCallout1">
            <a:avLst>
              <a:gd name="adj1" fmla="val 92219"/>
              <a:gd name="adj2" fmla="val 31629"/>
              <a:gd name="adj3" fmla="val 226786"/>
              <a:gd name="adj4" fmla="val 202"/>
            </a:avLst>
          </a:prstGeom>
          <a:ln w="57150">
            <a:solidFill>
              <a:srgbClr val="003882"/>
            </a:solidFill>
            <a:headEnd type="none" w="med" len="med"/>
            <a:tailEnd type="triangl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Reserved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58EE0-BEAA-4B57-AD3F-2698A7D90B72}"/>
              </a:ext>
            </a:extLst>
          </p:cNvPr>
          <p:cNvSpPr txBox="1"/>
          <p:nvPr/>
        </p:nvSpPr>
        <p:spPr>
          <a:xfrm>
            <a:off x="8801099" y="2032106"/>
            <a:ext cx="34291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Student_Id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UG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allout: Line 6" descr="Reserved word: SELECT&#10;User-defined: UG, StdId, Name">
            <a:extLst>
              <a:ext uri="{FF2B5EF4-FFF2-40B4-BE49-F238E27FC236}">
                <a16:creationId xmlns:a16="http://schemas.microsoft.com/office/drawing/2014/main" id="{C7F707D6-4B3E-4AAD-B522-9DD0AF7CF478}"/>
              </a:ext>
            </a:extLst>
          </p:cNvPr>
          <p:cNvSpPr/>
          <p:nvPr/>
        </p:nvSpPr>
        <p:spPr>
          <a:xfrm>
            <a:off x="9526458" y="3193368"/>
            <a:ext cx="1686025" cy="503349"/>
          </a:xfrm>
          <a:prstGeom prst="borderCallout1">
            <a:avLst>
              <a:gd name="adj1" fmla="val -1659"/>
              <a:gd name="adj2" fmla="val 49469"/>
              <a:gd name="adj3" fmla="val -92282"/>
              <a:gd name="adj4" fmla="val 23751"/>
            </a:avLst>
          </a:prstGeom>
          <a:ln w="57150">
            <a:solidFill>
              <a:srgbClr val="003882"/>
            </a:solidFill>
            <a:headEnd type="none" w="med" len="med"/>
            <a:tailEnd type="triangl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User-defined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96562B-5900-4AD3-8CEE-1C535C0F18D3}"/>
              </a:ext>
            </a:extLst>
          </p:cNvPr>
          <p:cNvSpPr/>
          <p:nvPr/>
        </p:nvSpPr>
        <p:spPr>
          <a:xfrm rot="21349792">
            <a:off x="7604874" y="5324607"/>
            <a:ext cx="4128798" cy="92210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SQL is a Data Definition Language (DDL) and a Data Manipulation Language (DML)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9FEDD-238B-4546-AE82-88ECB13AC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6A34F1-7EE3-4CA4-B196-255978C82451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925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C9E22-DBC3-4A75-AF3C-33C8DB9ED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F2E8F-8A26-45A3-9B95-A9B1A75B5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SQL provides </a:t>
            </a:r>
            <a:r>
              <a:rPr lang="en-GB" b="1" dirty="0"/>
              <a:t>four statements for data manipulation</a:t>
            </a:r>
            <a:r>
              <a:rPr lang="en-GB" dirty="0"/>
              <a:t>.</a:t>
            </a:r>
          </a:p>
          <a:p>
            <a:r>
              <a:rPr lang="en-GB" dirty="0"/>
              <a:t>Data manipulation involves: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7FEBAE5-3F9B-4B1A-8AD1-3BDF8B51B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952376"/>
              </p:ext>
            </p:extLst>
          </p:nvPr>
        </p:nvGraphicFramePr>
        <p:xfrm>
          <a:off x="1310105" y="2935260"/>
          <a:ext cx="8128000" cy="2103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7084">
                  <a:extLst>
                    <a:ext uri="{9D8B030D-6E8A-4147-A177-3AD203B41FA5}">
                      <a16:colId xmlns:a16="http://schemas.microsoft.com/office/drawing/2014/main" val="462960583"/>
                    </a:ext>
                  </a:extLst>
                </a:gridCol>
                <a:gridCol w="3650916">
                  <a:extLst>
                    <a:ext uri="{9D8B030D-6E8A-4147-A177-3AD203B41FA5}">
                      <a16:colId xmlns:a16="http://schemas.microsoft.com/office/drawing/2014/main" val="3053340362"/>
                    </a:ext>
                  </a:extLst>
                </a:gridCol>
              </a:tblGrid>
              <a:tr h="402300">
                <a:tc>
                  <a:txBody>
                    <a:bodyPr/>
                    <a:lstStyle/>
                    <a:p>
                      <a:pPr marL="201168" marR="0" lvl="1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rgbClr val="1CADE4"/>
                        </a:buClr>
                        <a:buSzTx/>
                        <a:buFont typeface="Calibri" pitchFamily="34" charset="0"/>
                        <a:buNone/>
                        <a:tabLst/>
                        <a:defRPr/>
                      </a:pPr>
                      <a:r>
                        <a:rPr kumimoji="0" lang="en-GB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01168" marR="0" lvl="1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rgbClr val="1CADE4"/>
                        </a:buClr>
                        <a:buSzTx/>
                        <a:buFont typeface="Calibri" pitchFamily="34" charset="0"/>
                        <a:buNone/>
                        <a:tabLst/>
                        <a:defRPr/>
                      </a:pPr>
                      <a:r>
                        <a:rPr kumimoji="0" lang="en-GB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</a:rPr>
                        <a:t>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158454"/>
                  </a:ext>
                </a:extLst>
              </a:tr>
              <a:tr h="402300">
                <a:tc>
                  <a:txBody>
                    <a:bodyPr/>
                    <a:lstStyle/>
                    <a:p>
                      <a:pPr marL="384048" marR="0" lvl="1" indent="-18288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rgbClr val="1CADE4"/>
                        </a:buClr>
                        <a:buSzTx/>
                        <a:buFont typeface="Calibri" pitchFamily="34" charset="0"/>
                        <a:buChar char="◦"/>
                        <a:tabLst/>
                        <a:defRPr/>
                      </a:pPr>
                      <a:r>
                        <a:rPr kumimoji="0" lang="en-GB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</a:rPr>
                        <a:t>Adding data to tables</a:t>
                      </a:r>
                      <a:endPara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4048" marR="0" lvl="1" indent="-18288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rgbClr val="1CADE4"/>
                        </a:buClr>
                        <a:buSzTx/>
                        <a:buFont typeface="Calibri" pitchFamily="34" charset="0"/>
                        <a:buChar char="◦"/>
                        <a:tabLst/>
                        <a:defRPr/>
                      </a:pPr>
                      <a:r>
                        <a:rPr kumimoji="0" lang="en-GB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</a:rPr>
                        <a:t>INSERT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002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84048" marR="0" lvl="1" indent="-18288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rgbClr val="1CADE4"/>
                        </a:buClr>
                        <a:buSzTx/>
                        <a:buFont typeface="Calibri" pitchFamily="34" charset="0"/>
                        <a:buChar char="◦"/>
                        <a:tabLst/>
                        <a:defRPr/>
                      </a:pPr>
                      <a:r>
                        <a:rPr kumimoji="0" lang="en-GB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</a:rPr>
                        <a:t>Modifying data in tables</a:t>
                      </a:r>
                      <a:endPara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4048" marR="0" lvl="1" indent="-18288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rgbClr val="1CADE4"/>
                        </a:buClr>
                        <a:buSzTx/>
                        <a:buFont typeface="Calibri" pitchFamily="34" charset="0"/>
                        <a:buChar char="◦"/>
                        <a:tabLst/>
                        <a:defRPr/>
                      </a:pPr>
                      <a:r>
                        <a:rPr kumimoji="0" lang="en-GB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</a:rPr>
                        <a:t>UPDATE</a:t>
                      </a:r>
                      <a:endPara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725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84048" marR="0" lvl="1" indent="-18288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rgbClr val="1CADE4"/>
                        </a:buClr>
                        <a:buSzTx/>
                        <a:buFont typeface="Calibri" pitchFamily="34" charset="0"/>
                        <a:buChar char="◦"/>
                        <a:tabLst/>
                        <a:defRPr/>
                      </a:pPr>
                      <a:r>
                        <a:rPr kumimoji="0" lang="en-GB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</a:rPr>
                        <a:t>Deleting data from tables</a:t>
                      </a:r>
                      <a:endPara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4048" marR="0" lvl="1" indent="-18288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rgbClr val="1CADE4"/>
                        </a:buClr>
                        <a:buSzTx/>
                        <a:buFont typeface="Calibri" pitchFamily="34" charset="0"/>
                        <a:buChar char="◦"/>
                        <a:tabLst/>
                        <a:defRPr/>
                      </a:pPr>
                      <a:r>
                        <a:rPr kumimoji="0" lang="en-GB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</a:rPr>
                        <a:t>DELETE</a:t>
                      </a:r>
                      <a:endPara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52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84048" marR="0" lvl="1" indent="-18288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rgbClr val="1CADE4"/>
                        </a:buClr>
                        <a:buSzTx/>
                        <a:buFont typeface="Calibri" pitchFamily="34" charset="0"/>
                        <a:buChar char="◦"/>
                        <a:tabLst/>
                        <a:defRPr/>
                      </a:pPr>
                      <a:r>
                        <a:rPr kumimoji="0" lang="en-GB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</a:rPr>
                        <a:t>Retrieving data from database</a:t>
                      </a:r>
                      <a:endPara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4048" marR="0" lvl="1" indent="-18288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rgbClr val="1CADE4"/>
                        </a:buClr>
                        <a:buSzTx/>
                        <a:buFont typeface="Calibri" pitchFamily="34" charset="0"/>
                        <a:buChar char="◦"/>
                        <a:tabLst/>
                        <a:defRPr/>
                      </a:pPr>
                      <a:r>
                        <a:rPr kumimoji="0" lang="en-GB" sz="2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</a:rPr>
                        <a:t>SELECT</a:t>
                      </a:r>
                      <a:endPara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69158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96E39-B5D7-4F6D-A617-90C5C931C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6A34F1-7EE3-4CA4-B196-255978C82451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54967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91BBE-E068-425D-A708-270BD90A8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 – INSERT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DDC02-617C-4598-9BE5-7A92076AA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06785"/>
          </a:xfrm>
        </p:spPr>
        <p:txBody>
          <a:bodyPr>
            <a:normAutofit fontScale="92500" lnSpcReduction="10000"/>
          </a:bodyPr>
          <a:lstStyle/>
          <a:p>
            <a:pPr marL="386928" lvl="2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TableName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[(column1, column2, column3, …)]</a:t>
            </a:r>
          </a:p>
          <a:p>
            <a:pPr marL="386928" lvl="2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VALUES 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dataValue1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dataValue2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dataValue3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...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dirty="0"/>
          </a:p>
          <a:p>
            <a:r>
              <a:rPr lang="en-GB" b="1" dirty="0"/>
              <a:t>Inserts new rows one at a time</a:t>
            </a:r>
            <a:r>
              <a:rPr lang="en-GB" dirty="0"/>
              <a:t> into a table.</a:t>
            </a:r>
          </a:p>
          <a:p>
            <a:r>
              <a:rPr lang="en-GB" dirty="0"/>
              <a:t>The column list, column1, column2, …, is optional (</a:t>
            </a:r>
            <a:r>
              <a:rPr lang="en-GB" i="1" dirty="0">
                <a:solidFill>
                  <a:srgbClr val="C00000"/>
                </a:solidFill>
              </a:rPr>
              <a:t>but not recommended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If omitted, SQL assumes data is being inserted into </a:t>
            </a:r>
            <a:r>
              <a:rPr lang="en-GB" b="1" dirty="0"/>
              <a:t>all</a:t>
            </a:r>
            <a:r>
              <a:rPr lang="en-GB" dirty="0"/>
              <a:t> </a:t>
            </a:r>
            <a:r>
              <a:rPr lang="en-GB" b="1" dirty="0"/>
              <a:t>columns</a:t>
            </a:r>
            <a:r>
              <a:rPr lang="en-GB" dirty="0"/>
              <a:t> </a:t>
            </a:r>
            <a:r>
              <a:rPr lang="en-GB" b="1" i="1" dirty="0"/>
              <a:t>in</a:t>
            </a:r>
            <a:r>
              <a:rPr lang="en-GB" i="1" dirty="0"/>
              <a:t> </a:t>
            </a:r>
            <a:r>
              <a:rPr lang="en-GB" b="1" i="1" dirty="0"/>
              <a:t>their</a:t>
            </a:r>
            <a:r>
              <a:rPr lang="en-GB" i="1" dirty="0"/>
              <a:t> </a:t>
            </a:r>
            <a:r>
              <a:rPr lang="en-GB" b="1" i="1" dirty="0"/>
              <a:t>original CREATE TABLE order</a:t>
            </a:r>
            <a:r>
              <a:rPr lang="en-GB" dirty="0"/>
              <a:t>.</a:t>
            </a:r>
          </a:p>
          <a:p>
            <a:r>
              <a:rPr lang="en-GB" dirty="0"/>
              <a:t>If specifying columns:</a:t>
            </a:r>
          </a:p>
          <a:p>
            <a:pPr lvl="1"/>
            <a:r>
              <a:rPr lang="en-GB" dirty="0"/>
              <a:t>The data values must correspond to the specified column order – see next slide.</a:t>
            </a:r>
          </a:p>
          <a:p>
            <a:pPr lvl="1"/>
            <a:r>
              <a:rPr lang="en-GB" dirty="0"/>
              <a:t>You can omit columns, but only columns that are:</a:t>
            </a:r>
          </a:p>
          <a:p>
            <a:pPr lvl="2"/>
            <a:r>
              <a:rPr lang="en-GB" sz="1900" dirty="0"/>
              <a:t>allowed to accept NULL values or </a:t>
            </a:r>
          </a:p>
          <a:p>
            <a:pPr lvl="2"/>
            <a:r>
              <a:rPr lang="en-GB" sz="1900" dirty="0"/>
              <a:t>columns that have a DEFAULT value specified.</a:t>
            </a:r>
          </a:p>
          <a:p>
            <a:r>
              <a:rPr lang="en-GB" dirty="0"/>
              <a:t>Auto increment columns do not need to be specified.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5961B-AB4A-4B9B-A33F-58C5EE644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1074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E05AA-A52C-47EB-BE98-824D4DD1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 – INSERT Statement: Example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AE96C-EDC7-47B2-BB80-106219CA6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828020" cy="4506941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To add a new student (this syntax is </a:t>
            </a:r>
            <a:r>
              <a:rPr lang="en-GB" b="1" i="1" dirty="0"/>
              <a:t>not recommended</a:t>
            </a:r>
            <a:r>
              <a:rPr lang="en-GB" dirty="0"/>
              <a:t>):</a:t>
            </a:r>
          </a:p>
          <a:p>
            <a:pPr lvl="1"/>
            <a:r>
              <a:rPr lang="en-GB" dirty="0"/>
              <a:t>Field values must be in the same order as specified in the table definition</a:t>
            </a:r>
          </a:p>
          <a:p>
            <a:pPr marL="475488" lvl="2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UG</a:t>
            </a:r>
          </a:p>
          <a:p>
            <a:pPr marL="475488" lvl="2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VALUES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'S1000001'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'j21'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'Jane'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'1'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'2001-01-01'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'BIT'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sz="2800" dirty="0"/>
          </a:p>
          <a:p>
            <a:endParaRPr lang="en-GB" dirty="0"/>
          </a:p>
          <a:p>
            <a:r>
              <a:rPr lang="en-GB" b="1" dirty="0"/>
              <a:t>Better approach </a:t>
            </a:r>
            <a:r>
              <a:rPr lang="en-GB" dirty="0"/>
              <a:t>- list column names explicitly and then the order does not matter as long as values correspond to column names.</a:t>
            </a:r>
          </a:p>
          <a:p>
            <a:pPr marL="475488" lvl="2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UG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Student_ID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Login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Stage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DOB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Tutor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Degree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VALUES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'S1000001'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'Jane'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'j21'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'1'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'2001-01-01'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1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'BIT'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sz="2000" dirty="0"/>
          </a:p>
          <a:p>
            <a:pPr>
              <a:spcBef>
                <a:spcPts val="1800"/>
              </a:spcBef>
            </a:pPr>
            <a:r>
              <a:rPr lang="en-GB" b="1" dirty="0"/>
              <a:t>Question</a:t>
            </a:r>
          </a:p>
          <a:p>
            <a:pPr lvl="1"/>
            <a:r>
              <a:rPr lang="en-GB" dirty="0"/>
              <a:t>What would happen if the staff table does not contain a staff member with </a:t>
            </a:r>
            <a:r>
              <a:rPr lang="en-GB" dirty="0" err="1"/>
              <a:t>Staff_ID</a:t>
            </a:r>
            <a:r>
              <a:rPr lang="en-GB" dirty="0"/>
              <a:t>=1?</a:t>
            </a:r>
          </a:p>
          <a:p>
            <a:pPr lvl="1"/>
            <a:r>
              <a:rPr lang="en-GB" dirty="0"/>
              <a:t>Explain why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114B2-742C-4A5B-B233-E4B8E8D2F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41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19D389-D2EA-64AD-1B29-70F68113D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470" y="286603"/>
            <a:ext cx="3441877" cy="229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3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E8693-4124-46B8-871E-43B7A1339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 – UPDATE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790E3-7799-47E8-BA57-9D8CC2C3A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4048" marR="0" lvl="2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1CADE4"/>
              </a:buClr>
              <a:buSzTx/>
              <a:buFont typeface="Calibri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UPDATE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TableName</a:t>
            </a:r>
            <a:b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columnName1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newDataValue1 [, columnName2 = newDataValue2…]</a:t>
            </a:r>
            <a:b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WHERE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searchCondition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endParaRPr lang="en-GB" sz="2000" dirty="0"/>
          </a:p>
          <a:p>
            <a:endParaRPr lang="en-GB" dirty="0"/>
          </a:p>
          <a:p>
            <a:r>
              <a:rPr lang="en-GB" dirty="0"/>
              <a:t>The WHERE Clause is optional, </a:t>
            </a:r>
            <a:r>
              <a:rPr lang="en-GB" b="1" dirty="0">
                <a:solidFill>
                  <a:srgbClr val="C00000"/>
                </a:solidFill>
              </a:rPr>
              <a:t>but</a:t>
            </a:r>
          </a:p>
          <a:p>
            <a:pPr lvl="1"/>
            <a:r>
              <a:rPr lang="en-GB" b="1" dirty="0"/>
              <a:t>If omitted</a:t>
            </a:r>
            <a:r>
              <a:rPr lang="en-GB" dirty="0"/>
              <a:t>, all rows will be updated with the new value.</a:t>
            </a:r>
          </a:p>
          <a:p>
            <a:r>
              <a:rPr lang="en-GB" dirty="0"/>
              <a:t>An example:</a:t>
            </a:r>
          </a:p>
          <a:p>
            <a:pPr marL="475488" lvl="2" indent="0">
              <a:buNone/>
            </a:pPr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UG</a:t>
            </a:r>
          </a:p>
          <a:p>
            <a:pPr marL="475488" lvl="2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Tutor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2</a:t>
            </a:r>
          </a:p>
          <a:p>
            <a:pPr marL="475488" lvl="2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Student_ID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'S1000001'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20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BFCC5-C3F5-4BF0-98EA-12E4443E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5765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83709-0536-4E31-BBB0-23B79A1A0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GB" dirty="0"/>
              <a:t>SQL – UPDATE Statement: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188F7-35AD-4AF7-9718-3E35A2870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en-GB" b="1" dirty="0"/>
              <a:t>Why might the update fail</a:t>
            </a:r>
            <a:r>
              <a:rPr lang="en-GB" dirty="0"/>
              <a:t>?</a:t>
            </a:r>
          </a:p>
          <a:p>
            <a:pPr marL="475488" lvl="2" indent="0">
              <a:buNone/>
            </a:pPr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UG</a:t>
            </a:r>
          </a:p>
          <a:p>
            <a:pPr marL="475488" lvl="2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Tutor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99</a:t>
            </a:r>
          </a:p>
          <a:p>
            <a:pPr marL="475488" lvl="2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Student_ID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'S1000001'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2000" dirty="0"/>
          </a:p>
          <a:p>
            <a:endParaRPr lang="en-GB" dirty="0"/>
          </a:p>
          <a:p>
            <a:r>
              <a:rPr lang="en-GB" dirty="0"/>
              <a:t>E.g., if Tutor </a:t>
            </a:r>
            <a:r>
              <a:rPr lang="en-GB" b="1" dirty="0"/>
              <a:t>99</a:t>
            </a:r>
            <a:r>
              <a:rPr lang="en-GB" dirty="0"/>
              <a:t> does not exist</a:t>
            </a:r>
          </a:p>
          <a:p>
            <a:endParaRPr lang="en-GB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661A322-41D8-43E4-80C7-31330EF9F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168B9-FBBB-47D1-B2F6-CD6A5879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96A34F1-7EE3-4CA4-B196-255978C82451}" type="slidenum">
              <a:rPr lang="en-GB" smtClean="0"/>
              <a:pPr>
                <a:spcAft>
                  <a:spcPts val="600"/>
                </a:spcAft>
              </a:pPr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00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88BE-6C31-4308-A4E8-8687B4993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 – DELETE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015B5-B6F8-49B1-8E41-FCF258CA1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4048" lvl="2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GB" sz="2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TableName</a:t>
            </a:r>
            <a:r>
              <a:rPr lang="en-GB" sz="2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br>
              <a:rPr lang="en-GB" sz="2000" dirty="0">
                <a:solidFill>
                  <a:prstClr val="black"/>
                </a:solidFill>
                <a:latin typeface="Consolas" panose="020B0609020204030204" pitchFamily="49" charset="0"/>
              </a:rPr>
            </a:br>
            <a:r>
              <a:rPr lang="en-GB" sz="2000" dirty="0">
                <a:solidFill>
                  <a:prstClr val="black"/>
                </a:solidFill>
                <a:latin typeface="Consolas" panose="020B0609020204030204" pitchFamily="49" charset="0"/>
              </a:rPr>
              <a:t>[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searchCondition</a:t>
            </a:r>
            <a:r>
              <a:rPr lang="en-GB" sz="2000" dirty="0">
                <a:solidFill>
                  <a:prstClr val="black"/>
                </a:solidFill>
                <a:latin typeface="Consolas" panose="020B0609020204030204" pitchFamily="49" charset="0"/>
              </a:rPr>
              <a:t>]</a:t>
            </a:r>
            <a:endParaRPr lang="en-GB" sz="2000" dirty="0"/>
          </a:p>
          <a:p>
            <a:r>
              <a:rPr lang="en-GB" dirty="0"/>
              <a:t>The WHERE clause is optional, </a:t>
            </a:r>
            <a:r>
              <a:rPr lang="en-GB" b="1" dirty="0">
                <a:solidFill>
                  <a:srgbClr val="C00000"/>
                </a:solidFill>
              </a:rPr>
              <a:t>but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If omitted, </a:t>
            </a:r>
            <a:r>
              <a:rPr lang="en-GB" b="1" u="sng" dirty="0"/>
              <a:t>all rows</a:t>
            </a:r>
            <a:r>
              <a:rPr lang="en-GB" dirty="0"/>
              <a:t> are deleted from the table.</a:t>
            </a:r>
          </a:p>
          <a:p>
            <a:r>
              <a:rPr lang="en-GB" dirty="0"/>
              <a:t>For example, delete a staff member</a:t>
            </a:r>
          </a:p>
          <a:p>
            <a:pPr marL="475488" lvl="2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Staff</a:t>
            </a:r>
          </a:p>
          <a:p>
            <a:pPr marL="475488" lvl="2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Staff_ID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1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20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D6C61-9403-4120-B2C3-98073437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2565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A2C2-D5F6-4981-F7E9-393E4C76D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GB" dirty="0"/>
              <a:t>Warning!!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C14E1-51FC-7BF5-C205-66A3622EE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432" y="2104325"/>
            <a:ext cx="3094997" cy="309499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1B9A7-E931-AC35-2FC7-169DB4677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733" y="1845734"/>
            <a:ext cx="6515947" cy="4023360"/>
          </a:xfrm>
        </p:spPr>
        <p:txBody>
          <a:bodyPr>
            <a:normAutofit/>
          </a:bodyPr>
          <a:lstStyle/>
          <a:p>
            <a:r>
              <a:rPr lang="en-GB" sz="2000" b="1" dirty="0"/>
              <a:t>Take care with UPDATE and DELETE statements</a:t>
            </a:r>
            <a:r>
              <a:rPr lang="en-GB" sz="2000" dirty="0"/>
              <a:t>.</a:t>
            </a:r>
          </a:p>
          <a:p>
            <a:r>
              <a:rPr lang="en-GB" sz="2000" dirty="0"/>
              <a:t>What do the following commands do?</a:t>
            </a:r>
          </a:p>
          <a:p>
            <a:pPr marL="566928" lvl="3" indent="0">
              <a:buNone/>
            </a:pPr>
            <a:r>
              <a:rPr lang="en-GB" sz="2000" dirty="0">
                <a:latin typeface="Consolas" panose="020B0609020204030204" pitchFamily="49" charset="0"/>
              </a:rPr>
              <a:t>UPDATE Student SET Name = 'Unknown';</a:t>
            </a:r>
          </a:p>
          <a:p>
            <a:pPr marL="566928" lvl="3" indent="0">
              <a:buNone/>
            </a:pPr>
            <a:r>
              <a:rPr lang="en-GB" sz="2000" dirty="0">
                <a:latin typeface="Consolas" panose="020B0609020204030204" pitchFamily="49" charset="0"/>
              </a:rPr>
              <a:t>DELETE FROM Staff;</a:t>
            </a:r>
            <a:endParaRPr lang="en-GB" sz="2000" dirty="0"/>
          </a:p>
          <a:p>
            <a:r>
              <a:rPr lang="en-GB" sz="2000" b="1" i="1" dirty="0"/>
              <a:t>Always remember the WHERE clause when writing UPDATE/DELETE statements </a:t>
            </a:r>
            <a:r>
              <a:rPr lang="en-GB" sz="2000" i="1" dirty="0"/>
              <a:t>unless you </a:t>
            </a:r>
            <a:r>
              <a:rPr lang="en-GB" sz="2000" b="1" i="1" dirty="0"/>
              <a:t>really</a:t>
            </a:r>
            <a:r>
              <a:rPr lang="en-GB" sz="2000" i="1" dirty="0"/>
              <a:t> want to update/delete all rows in the table</a:t>
            </a:r>
            <a:r>
              <a:rPr lang="en-GB" sz="2000" b="1" i="1" dirty="0"/>
              <a:t>!</a:t>
            </a:r>
          </a:p>
          <a:p>
            <a:endParaRPr lang="en-GB" sz="2000" dirty="0"/>
          </a:p>
          <a:p>
            <a:r>
              <a:rPr lang="en-GB" sz="2000" b="1" dirty="0"/>
              <a:t>Most times you want to update or delete a specific row </a:t>
            </a:r>
            <a:r>
              <a:rPr lang="en-GB" sz="2000" dirty="0"/>
              <a:t>– make sure you </a:t>
            </a:r>
            <a:r>
              <a:rPr lang="en-GB" sz="2000" b="1" dirty="0"/>
              <a:t>add the WHERE clause</a:t>
            </a:r>
            <a:r>
              <a:rPr lang="en-GB" sz="2000" dirty="0"/>
              <a:t>.</a:t>
            </a:r>
          </a:p>
          <a:p>
            <a:endParaRPr lang="en-GB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D6E90-A4E4-05F8-629C-252CB87EB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96A34F1-7EE3-4CA4-B196-255978C82451}" type="slidenum">
              <a:rPr lang="en-GB" smtClean="0"/>
              <a:pPr>
                <a:spcAft>
                  <a:spcPts val="600"/>
                </a:spcAft>
              </a:pPr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5066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E220058-3FCE-496E-ADF2-D8A6961F3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193F809-7E50-4AAD-8E26-878207931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44603" y="4325112"/>
            <a:ext cx="71323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51D95E0-7FBE-286D-D4D9-90B0A5493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504" y="758952"/>
            <a:ext cx="7319175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Homework (2)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C6C6A-7182-8E70-E6AD-BE558E6DE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6504" y="4455620"/>
            <a:ext cx="7321946" cy="11430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ReAD THROUGH THE Example Queries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1A7DEC8-A15B-18EF-846B-B352D59A3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18" y="1944907"/>
            <a:ext cx="2449486" cy="2449486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E9C5090-7D25-41E3-A6D3-CCAEE505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BF8809-0DAC-41E5-A212-ACB4A01BE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9818A-14E0-DB9B-5DCE-18A7F727381D}"/>
              </a:ext>
            </a:extLst>
          </p:cNvPr>
          <p:cNvSpPr txBox="1"/>
          <p:nvPr/>
        </p:nvSpPr>
        <p:spPr>
          <a:xfrm>
            <a:off x="3944603" y="5341507"/>
            <a:ext cx="3958712" cy="36933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permitting, otherwise homework!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70C2D-D373-7C7F-16EA-2113CEE41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91440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96A34F1-7EE3-4CA4-B196-255978C82451}" type="slidenum">
              <a:rPr kumimoji="0" lang="en-US" b="0" i="0" u="none" strike="noStrike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R="0" lvl="0" indent="0" defTabSz="91440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868967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31EEBDE-4FF1-F17D-F93D-58DEAF937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the Sample Database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70E81AA-274B-399F-76DB-30A2A72AB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Download the SQL file to create the sample database from Moodle.</a:t>
            </a:r>
          </a:p>
          <a:p>
            <a:r>
              <a:rPr lang="en-GB" dirty="0"/>
              <a:t>Run the file on your PostgreSQL database.</a:t>
            </a:r>
          </a:p>
          <a:p>
            <a:pPr lvl="1"/>
            <a:r>
              <a:rPr lang="en-GB" b="1" dirty="0"/>
              <a:t>Note</a:t>
            </a:r>
            <a:r>
              <a:rPr lang="en-GB" dirty="0"/>
              <a:t>: Even if you don’t run the files, look through them as these files will help you with assignment 3.</a:t>
            </a:r>
          </a:p>
          <a:p>
            <a:r>
              <a:rPr lang="en-GB" dirty="0"/>
              <a:t>Download the SQL file that contains the test queries from Moodle.</a:t>
            </a:r>
          </a:p>
          <a:p>
            <a:r>
              <a:rPr lang="en-GB" dirty="0"/>
              <a:t>Try running the test queries on your database.</a:t>
            </a:r>
          </a:p>
          <a:p>
            <a:pPr lvl="1"/>
            <a:r>
              <a:rPr lang="en-GB" dirty="0"/>
              <a:t>The files contain comments explaining what the SQL statements do.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A90DA-66F1-0863-906F-794A4DC35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47498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48D8-35A1-4CFA-8D6D-C08C2EA02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Examples: Queries on a Single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AA2B0-8915-4EB9-801B-2CDB08141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45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SELECT</a:t>
            </a:r>
            <a:r>
              <a:rPr lang="en-GB" dirty="0"/>
              <a:t> Statement Examples</a:t>
            </a:r>
          </a:p>
          <a:p>
            <a:r>
              <a:rPr lang="en-GB" dirty="0"/>
              <a:t>Retrieve the name, login, and degree of all undergraduate students:</a:t>
            </a:r>
          </a:p>
          <a:p>
            <a:pPr marL="566928" lvl="3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Login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Degree</a:t>
            </a:r>
          </a:p>
          <a:p>
            <a:pPr marL="566928" lvl="3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UG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2800" dirty="0"/>
          </a:p>
          <a:p>
            <a:r>
              <a:rPr lang="en-GB" dirty="0"/>
              <a:t>Retrieve all details for undergraduate students:</a:t>
            </a:r>
          </a:p>
          <a:p>
            <a:pPr marL="566928" lvl="3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UG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2000" dirty="0"/>
          </a:p>
          <a:p>
            <a:r>
              <a:rPr lang="en-GB" dirty="0"/>
              <a:t>Find the five oldest students:</a:t>
            </a:r>
          </a:p>
          <a:p>
            <a:pPr lvl="1"/>
            <a:r>
              <a:rPr lang="en-GB" b="1" dirty="0"/>
              <a:t>Note</a:t>
            </a:r>
            <a:r>
              <a:rPr lang="en-GB" dirty="0"/>
              <a:t>: use SELECT * cautiously.</a:t>
            </a:r>
          </a:p>
          <a:p>
            <a:pPr marL="566928" lvl="3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UG</a:t>
            </a:r>
          </a:p>
          <a:p>
            <a:pPr marL="566928" lvl="3" indent="0">
              <a:lnSpc>
                <a:spcPct val="100000"/>
              </a:lnSpc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DOB 	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-- Sorts by DOB column</a:t>
            </a:r>
          </a:p>
          <a:p>
            <a:pPr marL="566928" lvl="3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LIMIT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5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;		-- Limits results to first 5 rows</a:t>
            </a:r>
            <a:endParaRPr lang="en-GB" sz="32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FE5FC-3CD8-4B1C-9248-0387CCCCD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6A34F1-7EE3-4CA4-B196-255978C82451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64715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61458-CF86-442D-9F78-3457FB683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GB" dirty="0"/>
              <a:t>Examples: Queries on a Single Table (2)</a:t>
            </a:r>
            <a:br>
              <a:rPr lang="en-GB"/>
            </a:br>
            <a:r>
              <a:rPr lang="en-GB" sz="4000"/>
              <a:t>DISTINCT - Question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8BBA6-EF18-495F-BAF8-86CE59519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Using </a:t>
            </a:r>
            <a:r>
              <a:rPr lang="en-GB" b="1" dirty="0"/>
              <a:t>DISTINCT</a:t>
            </a:r>
          </a:p>
          <a:p>
            <a:r>
              <a:rPr lang="en-GB" dirty="0"/>
              <a:t>Consider the following query to retrieve the names of students:</a:t>
            </a:r>
          </a:p>
          <a:p>
            <a:pPr marL="566928" lvl="3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DISTINCT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Name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UG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2000" dirty="0"/>
          </a:p>
          <a:p>
            <a:endParaRPr lang="en-GB" dirty="0"/>
          </a:p>
          <a:p>
            <a:r>
              <a:rPr lang="en-GB" dirty="0"/>
              <a:t>What is </a:t>
            </a:r>
            <a:r>
              <a:rPr lang="en-GB" b="1" dirty="0"/>
              <a:t>DISTINCT</a:t>
            </a:r>
            <a:r>
              <a:rPr lang="en-GB" dirty="0"/>
              <a:t> and what does using distinct do?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C68F574-3D06-EB88-D72E-B36A5004E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8020570" y="2084269"/>
            <a:ext cx="3135109" cy="31351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F2D47-AEA1-4F04-9F17-29ED31C5F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96A34F1-7EE3-4CA4-B196-255978C82451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53253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61458-CF86-442D-9F78-3457FB683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GB" dirty="0"/>
              <a:t>Examples: Queries on a Single Table (2)</a:t>
            </a:r>
            <a:br>
              <a:rPr lang="en-GB" dirty="0"/>
            </a:br>
            <a:r>
              <a:rPr lang="en-GB" sz="4000" dirty="0"/>
              <a:t>DISTINCT – Question Answer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8BBA6-EF18-495F-BAF8-86CE59519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6454987" cy="43024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Using </a:t>
            </a:r>
            <a:r>
              <a:rPr lang="en-GB" b="1" dirty="0"/>
              <a:t>DISTINCT</a:t>
            </a:r>
          </a:p>
          <a:p>
            <a:r>
              <a:rPr lang="en-GB" dirty="0"/>
              <a:t>Consider the following query to retrieve the names of students:</a:t>
            </a:r>
          </a:p>
          <a:p>
            <a:pPr marL="566928" lvl="3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DISTINCT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Name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UG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2000" dirty="0"/>
          </a:p>
          <a:p>
            <a:endParaRPr lang="en-GB" dirty="0"/>
          </a:p>
          <a:p>
            <a:r>
              <a:rPr lang="en-GB" dirty="0"/>
              <a:t>What is </a:t>
            </a:r>
            <a:r>
              <a:rPr lang="en-GB" b="1" dirty="0"/>
              <a:t>DISTINCT</a:t>
            </a:r>
            <a:r>
              <a:rPr lang="en-GB" dirty="0"/>
              <a:t> and what does using distinct do?</a:t>
            </a:r>
          </a:p>
          <a:p>
            <a:r>
              <a:rPr lang="en-GB" dirty="0"/>
              <a:t>DISTINCT eliminates duplicate results.</a:t>
            </a:r>
          </a:p>
          <a:p>
            <a:pPr lvl="1"/>
            <a:r>
              <a:rPr lang="en-GB" dirty="0"/>
              <a:t>SQL does not strictly enforce the relational model.</a:t>
            </a:r>
          </a:p>
          <a:p>
            <a:pPr lvl="1"/>
            <a:r>
              <a:rPr lang="en-GB" dirty="0"/>
              <a:t>Its tables are not strictly sets of tuples, i.e., without repetition.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C68F574-3D06-EB88-D72E-B36A5004E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8020570" y="2084269"/>
            <a:ext cx="3135109" cy="31351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F2D47-AEA1-4F04-9F17-29ED31C5F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96A34F1-7EE3-4CA4-B196-255978C82451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64883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47C2B-8AA0-4B26-8B38-AEBE9B2C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Conditions: WHERE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D0AC9-69D2-41DB-ADCE-47D625233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Retrieval conditions may be specified using a </a:t>
            </a:r>
            <a:r>
              <a:rPr lang="en-GB" b="1" dirty="0"/>
              <a:t>WHERE</a:t>
            </a:r>
            <a:r>
              <a:rPr lang="en-GB" dirty="0"/>
              <a:t> clause</a:t>
            </a:r>
          </a:p>
          <a:p>
            <a:pPr lvl="1"/>
            <a:r>
              <a:rPr lang="en-GB" dirty="0"/>
              <a:t>Used to retrieve rows that match a specified filter condition</a:t>
            </a:r>
          </a:p>
          <a:p>
            <a:r>
              <a:rPr lang="en-GB" dirty="0"/>
              <a:t>Retrieve all undergraduate students named ‘Zoe’.</a:t>
            </a:r>
          </a:p>
          <a:p>
            <a:pPr marL="566928" lvl="3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UG</a:t>
            </a:r>
          </a:p>
          <a:p>
            <a:pPr marL="566928" lvl="3" indent="0">
              <a:buNone/>
            </a:pP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'Zoe'</a:t>
            </a:r>
            <a:r>
              <a:rPr lang="en-GB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2800" b="1" dirty="0"/>
          </a:p>
          <a:p>
            <a:r>
              <a:rPr lang="en-GB" dirty="0"/>
              <a:t>Retrieve all students that have a tutor, but don’t retrieve the tutor details.</a:t>
            </a:r>
          </a:p>
          <a:p>
            <a:pPr marL="475488" lvl="2" indent="0">
              <a:buNone/>
            </a:pP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UG</a:t>
            </a:r>
          </a:p>
          <a:p>
            <a:pPr marL="475488" lvl="2" indent="0">
              <a:buNone/>
            </a:pP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Tutor </a:t>
            </a:r>
            <a:r>
              <a:rPr lang="en-GB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IS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808080"/>
                </a:solidFill>
                <a:latin typeface="Consolas" panose="020B0609020204030204" pitchFamily="49" charset="0"/>
              </a:rPr>
              <a:t>NULL;</a:t>
            </a:r>
            <a:endParaRPr lang="en-GB" sz="2800" b="1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3C0D7-62FD-4EFB-9ED0-4C4E6A9D8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6A34F1-7EE3-4CA4-B196-255978C82451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916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A1F15C-0D21-4429-A397-657C6A7FA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 – Operators (1)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00C335-B3A8-4F0B-8081-287EF7321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Combining operators for complex conditions</a:t>
            </a:r>
          </a:p>
          <a:p>
            <a:pPr lvl="1"/>
            <a:r>
              <a:rPr lang="en-GB" dirty="0"/>
              <a:t>Using the logical operators: </a:t>
            </a:r>
            <a:r>
              <a:rPr lang="en-GB" b="1" dirty="0">
                <a:solidFill>
                  <a:srgbClr val="C00000"/>
                </a:solidFill>
              </a:rPr>
              <a:t>AND</a:t>
            </a:r>
            <a:r>
              <a:rPr lang="en-GB" dirty="0"/>
              <a:t>, </a:t>
            </a:r>
            <a:r>
              <a:rPr lang="en-GB" b="1" dirty="0">
                <a:solidFill>
                  <a:srgbClr val="C00000"/>
                </a:solidFill>
              </a:rPr>
              <a:t>OR</a:t>
            </a:r>
            <a:r>
              <a:rPr lang="en-GB" dirty="0"/>
              <a:t>, </a:t>
            </a:r>
            <a:r>
              <a:rPr lang="en-GB" b="1" dirty="0">
                <a:solidFill>
                  <a:srgbClr val="C00000"/>
                </a:solidFill>
              </a:rPr>
              <a:t>NOT</a:t>
            </a:r>
          </a:p>
          <a:p>
            <a:pPr lvl="1"/>
            <a:endParaRPr lang="en-GB" dirty="0"/>
          </a:p>
          <a:p>
            <a:r>
              <a:rPr lang="en-GB" dirty="0"/>
              <a:t>E.g., list the IDs and Names of students tutored by Staff members with ID 1, 2, or 3.</a:t>
            </a:r>
          </a:p>
          <a:p>
            <a:pPr marL="475488" lvl="2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Student_ID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UG</a:t>
            </a:r>
          </a:p>
          <a:p>
            <a:pPr marL="475488" lvl="2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Tutor 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1 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OR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Tutor 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2 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OR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Tutor 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3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2400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CB2B1-E8AF-46E3-8B50-4127A26A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6A34F1-7EE3-4CA4-B196-255978C82451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0230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F584-8377-4BB4-8BDD-39B738C7A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 – Operators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0B444-E35A-4720-B7E5-EDB9395CA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86624"/>
          </a:xfrm>
        </p:spPr>
        <p:txBody>
          <a:bodyPr>
            <a:normAutofit/>
          </a:bodyPr>
          <a:lstStyle/>
          <a:p>
            <a:r>
              <a:rPr lang="en-GB" dirty="0"/>
              <a:t>List the IDs and Names of students tutored by Staff members with ID 1, 2, or 3.</a:t>
            </a:r>
          </a:p>
          <a:p>
            <a:r>
              <a:rPr lang="en-GB" dirty="0"/>
              <a:t>Alternatively, you can use the </a:t>
            </a:r>
            <a:r>
              <a:rPr lang="en-GB" b="1" dirty="0">
                <a:solidFill>
                  <a:srgbClr val="C00000"/>
                </a:solidFill>
              </a:rPr>
              <a:t>IN</a:t>
            </a:r>
            <a:r>
              <a:rPr lang="en-GB" dirty="0"/>
              <a:t> operator </a:t>
            </a:r>
          </a:p>
          <a:p>
            <a:pPr marL="475488" lvl="2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Student_ID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UG</a:t>
            </a:r>
          </a:p>
          <a:p>
            <a:pPr marL="475488" lvl="2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Tutor </a:t>
            </a:r>
            <a:r>
              <a:rPr lang="en-GB" sz="2400" b="1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2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3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GB" sz="2400" dirty="0"/>
          </a:p>
          <a:p>
            <a:r>
              <a:rPr lang="en-GB" dirty="0"/>
              <a:t>Or BETWEEN operator</a:t>
            </a:r>
          </a:p>
          <a:p>
            <a:pPr marL="475488" lvl="2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Student_ID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75488" lvl="2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UG</a:t>
            </a:r>
          </a:p>
          <a:p>
            <a:pPr marL="475488" lvl="2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Tutor </a:t>
            </a:r>
            <a:r>
              <a:rPr lang="en-GB" sz="2400" b="1" dirty="0">
                <a:solidFill>
                  <a:srgbClr val="808080"/>
                </a:solidFill>
                <a:latin typeface="Consolas" panose="020B0609020204030204" pitchFamily="49" charset="0"/>
              </a:rPr>
              <a:t>BETWEEN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1 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3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24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B46C8-56B1-4E70-97B7-1E3DB55C3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6A34F1-7EE3-4CA4-B196-255978C82451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5960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E220058-3FCE-496E-ADF2-D8A6961F3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93F809-7E50-4AAD-8E26-878207931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44603" y="4325112"/>
            <a:ext cx="71323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AA4F8CC-0C08-4039-C0AE-68429C07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504" y="758952"/>
            <a:ext cx="7319175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Practice Questions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7D8554-BFB1-533D-B77A-B1F18B2BF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6504" y="4455620"/>
            <a:ext cx="7321946" cy="1143000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93CE72D-5269-DC47-35D1-8DD33F551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18" y="1944907"/>
            <a:ext cx="2449486" cy="244948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E9C5090-7D25-41E3-A6D3-CCAEE505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BF8809-0DAC-41E5-A212-ACB4A01BE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17D66-FC19-8D53-9536-FDCB64A41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A96A34F1-7EE3-4CA4-B196-255978C82451}" type="slidenum">
              <a:rPr lang="en-US" smtClean="0"/>
              <a:pPr defTabSz="914400">
                <a:spcAft>
                  <a:spcPts val="600"/>
                </a:spcAft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572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365B7D-41BF-E24E-BC9F-5256371E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Questions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B47F77-71E8-EEA8-2743-14EB2CFE5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04941"/>
          </a:xfrm>
        </p:spPr>
        <p:txBody>
          <a:bodyPr>
            <a:normAutofit lnSpcReduction="10000"/>
          </a:bodyPr>
          <a:lstStyle/>
          <a:p>
            <a:r>
              <a:rPr lang="en-GB" dirty="0"/>
              <a:t>SQL has two core functions: Data Definition Language (DDL) and Data Manipulation Language (DML). What is the difference between these two functions?</a:t>
            </a:r>
          </a:p>
          <a:p>
            <a:r>
              <a:rPr lang="en-GB" dirty="0"/>
              <a:t>What are the four basic SQL DML statements (aka CRUD statements) and explain what each statement is used for?</a:t>
            </a:r>
          </a:p>
          <a:p>
            <a:r>
              <a:rPr lang="en-GB" dirty="0"/>
              <a:t>Explain the importance and application of the WHERE clause in the UPDATE and DELETE statements in SQL. </a:t>
            </a:r>
          </a:p>
          <a:p>
            <a:r>
              <a:rPr lang="en-GB" dirty="0"/>
              <a:t>Why do we use the following clauses in a SELECT query:</a:t>
            </a:r>
          </a:p>
          <a:p>
            <a:pPr lvl="1"/>
            <a:r>
              <a:rPr lang="en-GB" dirty="0"/>
              <a:t>DISTINCT</a:t>
            </a:r>
          </a:p>
          <a:p>
            <a:pPr lvl="1"/>
            <a:r>
              <a:rPr lang="en-GB" dirty="0"/>
              <a:t>LIMIT</a:t>
            </a:r>
          </a:p>
          <a:p>
            <a:r>
              <a:rPr lang="en-GB" dirty="0"/>
              <a:t>How do you perform a case-insensitive search in PostgreSQL?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BC6EE-DE9D-065E-4780-F0BA62B46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A34F1-7EE3-4CA4-B196-255978C82451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66977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A00584-A2E4-A0B2-8968-AE990F546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dirty="0"/>
              <a:t>Next Lecture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759999-EE0C-0DB8-35D9-026AB02C7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70995" y="643467"/>
            <a:ext cx="3341488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More SQL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23779-8FAD-7B36-FCD5-9B03FA4E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96A34F1-7EE3-4CA4-B196-255978C82451}" type="slidenum">
              <a:rPr lang="en-US" smtClean="0"/>
              <a:pPr>
                <a:spcAft>
                  <a:spcPts val="600"/>
                </a:spcAft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487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CF81D86-BDBA-477C-B7DD-8D359BB99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957F5-8D7C-4D62-BE15-6DAC1185A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>
            <a:normAutofit/>
          </a:bodyPr>
          <a:lstStyle/>
          <a:p>
            <a:r>
              <a:rPr lang="en-GB" dirty="0"/>
              <a:t>References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CA8A280-80C1-4787-B959-EF3B24043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8" r="2311"/>
          <a:stretch/>
        </p:blipFill>
        <p:spPr bwMode="auto">
          <a:xfrm>
            <a:off x="633999" y="640081"/>
            <a:ext cx="4001315" cy="531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5F3E9C-EF11-4F8F-A621-399C7A3E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F64F7-8AD1-432F-849D-CB117C2E2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769" y="2198914"/>
            <a:ext cx="6574973" cy="3670180"/>
          </a:xfrm>
        </p:spPr>
        <p:txBody>
          <a:bodyPr>
            <a:normAutofit/>
          </a:bodyPr>
          <a:lstStyle/>
          <a:p>
            <a:r>
              <a:rPr lang="en-GB" dirty="0"/>
              <a:t>Connolly, T. and </a:t>
            </a:r>
            <a:r>
              <a:rPr lang="en-GB" dirty="0" err="1"/>
              <a:t>Begg</a:t>
            </a:r>
            <a:r>
              <a:rPr lang="en-GB" dirty="0"/>
              <a:t>, C. (2014). Database Systems: </a:t>
            </a:r>
            <a:r>
              <a:rPr lang="en-GB" i="1" dirty="0"/>
              <a:t>A Practical Approach to Design, Implementation, and Management</a:t>
            </a:r>
            <a:r>
              <a:rPr lang="en-GB" dirty="0"/>
              <a:t>, 6th Edition. Pearson.</a:t>
            </a:r>
          </a:p>
          <a:p>
            <a:r>
              <a:rPr lang="en-GB" dirty="0"/>
              <a:t>Chapters 14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AA064E-5F6E-4024-BC28-EDDC3DFC7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B29638-4838-4B9B-B9DB-96E542BAF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C0388-0F11-4700-B0AE-B8997B19E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96A34F1-7EE3-4CA4-B196-255978C82451}" type="slidenum">
              <a:rPr kumimoji="0" lang="en-GB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4572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GB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189964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7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003882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1B7DFF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8952</TotalTime>
  <Words>4950</Words>
  <Application>Microsoft Office PowerPoint</Application>
  <PresentationFormat>Widescreen</PresentationFormat>
  <Paragraphs>641</Paragraphs>
  <Slides>57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  <vt:variant>
        <vt:lpstr>Custom Shows</vt:lpstr>
      </vt:variant>
      <vt:variant>
        <vt:i4>1</vt:i4>
      </vt:variant>
    </vt:vector>
  </HeadingPairs>
  <TitlesOfParts>
    <vt:vector size="64" baseType="lpstr">
      <vt:lpstr>Arial</vt:lpstr>
      <vt:lpstr>Calibri</vt:lpstr>
      <vt:lpstr>Calibri Light</vt:lpstr>
      <vt:lpstr>Consolas</vt:lpstr>
      <vt:lpstr>Wingdings</vt:lpstr>
      <vt:lpstr>Retrospect</vt:lpstr>
      <vt:lpstr>SQL 1</vt:lpstr>
      <vt:lpstr>Today’s Lecture</vt:lpstr>
      <vt:lpstr>Mini Practical Exercise 1</vt:lpstr>
      <vt:lpstr>Mini-Practical Exercise 2 Tasks</vt:lpstr>
      <vt:lpstr>Database Design: Today’s Focus</vt:lpstr>
      <vt:lpstr>Logical to Physical</vt:lpstr>
      <vt:lpstr>Structured Query Language (SQL)</vt:lpstr>
      <vt:lpstr>Download PostgreSQL - pgAdmin</vt:lpstr>
      <vt:lpstr>Download PostgreSQL – Full Database</vt:lpstr>
      <vt:lpstr>Previous State: Logical Data Model</vt:lpstr>
      <vt:lpstr>A Selection of Data Types</vt:lpstr>
      <vt:lpstr>Never Use Float or Double for Money!</vt:lpstr>
      <vt:lpstr>Creating Tables with SQL Defining Columns (Attributes) in a Table</vt:lpstr>
      <vt:lpstr>Logical Model to Physical Model Data Types (1)</vt:lpstr>
      <vt:lpstr>Logical Model to Physical Model Data Types (2)</vt:lpstr>
      <vt:lpstr>Creating Tables with SQL (1)</vt:lpstr>
      <vt:lpstr>Creating Tables with SQL (2)</vt:lpstr>
      <vt:lpstr>Homework (1)</vt:lpstr>
      <vt:lpstr>Naming Conventions</vt:lpstr>
      <vt:lpstr>SQL Naming Conventions</vt:lpstr>
      <vt:lpstr>Creating Tables But We Also Had Constraints!</vt:lpstr>
      <vt:lpstr>Logical Model Constraints:  Question</vt:lpstr>
      <vt:lpstr>Logical Model Constraints:  Question Solution</vt:lpstr>
      <vt:lpstr>Constraints</vt:lpstr>
      <vt:lpstr>Types of Constraints</vt:lpstr>
      <vt:lpstr>Example Constraint</vt:lpstr>
      <vt:lpstr>Creating Tables with SQL  Adding the Constraints</vt:lpstr>
      <vt:lpstr>Creating Tables with SQL Composite Primary Key</vt:lpstr>
      <vt:lpstr>Default Constraints</vt:lpstr>
      <vt:lpstr>Referential Integrity</vt:lpstr>
      <vt:lpstr>Referential Integrity Rule</vt:lpstr>
      <vt:lpstr>Adding Foreign Keys: Example</vt:lpstr>
      <vt:lpstr>Referential Integrity (2)</vt:lpstr>
      <vt:lpstr>Referential Integrity (3)</vt:lpstr>
      <vt:lpstr>Cascading Referential Integrity</vt:lpstr>
      <vt:lpstr>Cascading Referential Integrity: Example</vt:lpstr>
      <vt:lpstr>Very Quick Recap of SQL </vt:lpstr>
      <vt:lpstr>SQL Statements / Commands</vt:lpstr>
      <vt:lpstr>SQL</vt:lpstr>
      <vt:lpstr>SQL – INSERT Statement</vt:lpstr>
      <vt:lpstr>SQL – INSERT Statement: Example (1)</vt:lpstr>
      <vt:lpstr>SQL – UPDATE Statement</vt:lpstr>
      <vt:lpstr>SQL – UPDATE Statement: Example</vt:lpstr>
      <vt:lpstr>SQL – DELETE Statement</vt:lpstr>
      <vt:lpstr>Warning!!</vt:lpstr>
      <vt:lpstr>Homework (2)</vt:lpstr>
      <vt:lpstr>Create the Sample Database</vt:lpstr>
      <vt:lpstr>Examples: Queries on a Single Table</vt:lpstr>
      <vt:lpstr>Examples: Queries on a Single Table (2) DISTINCT - Question</vt:lpstr>
      <vt:lpstr>Examples: Queries on a Single Table (2) DISTINCT – Question Answer</vt:lpstr>
      <vt:lpstr>Conditions: WHERE Clause</vt:lpstr>
      <vt:lpstr>SQL – Operators (1)</vt:lpstr>
      <vt:lpstr>SQL – Operators (2)</vt:lpstr>
      <vt:lpstr>Practice Questions </vt:lpstr>
      <vt:lpstr>Practice Questions</vt:lpstr>
      <vt:lpstr>Next Lecture</vt:lpstr>
      <vt:lpstr>References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Kemi Ademoye</dc:creator>
  <cp:lastModifiedBy>Kemi Ademoye</cp:lastModifiedBy>
  <cp:revision>897</cp:revision>
  <dcterms:created xsi:type="dcterms:W3CDTF">2020-09-30T10:34:36Z</dcterms:created>
  <dcterms:modified xsi:type="dcterms:W3CDTF">2025-10-19T14:45:01Z</dcterms:modified>
</cp:coreProperties>
</file>